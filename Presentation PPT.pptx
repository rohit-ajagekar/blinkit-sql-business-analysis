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9144000" cy="5143500" type="screen16x9"/>
  <p:notesSz cx="6858000" cy="9144000"/>
  <p:defaultTextStyle>
    <a:lvl1pPr marL="0" indent="0" algn="l" rtl="0" eaLnBrk="1" fontAlgn="base" latinLnBrk="1" hangingPunct="1">
      <a:lnSpc>
        <a:spcPct val="100000"/>
      </a:lnSpc>
      <a:spcBef>
        <a:spcPct val="0"/>
      </a:spcBef>
      <a:spcAft>
        <a:spcPct val="0"/>
      </a:spcAft>
      <a:buFont typeface="Arial" pitchFamily="34" charset="0"/>
      <a:buNone/>
      <a:defRPr sz="1300" b="0" i="0" u="none" baseline="0">
        <a:solidFill>
          <a:schemeClr val="dk1"/>
        </a:solidFill>
        <a:latin typeface="Calibri" pitchFamily="34" charset="0"/>
        <a:ea typeface="宋体" pitchFamily="2" charset="-122"/>
      </a:defRPr>
    </a:lvl1pPr>
    <a:lvl2pPr marL="342900" indent="114300" algn="l" rtl="0" eaLnBrk="1" fontAlgn="base" latinLnBrk="1" hangingPunct="1">
      <a:lnSpc>
        <a:spcPct val="100000"/>
      </a:lnSpc>
      <a:spcBef>
        <a:spcPct val="0"/>
      </a:spcBef>
      <a:spcAft>
        <a:spcPct val="0"/>
      </a:spcAft>
      <a:buFont typeface="Arial" pitchFamily="34" charset="0"/>
      <a:buNone/>
      <a:defRPr sz="1300" b="0" i="0" u="none" baseline="0">
        <a:solidFill>
          <a:schemeClr val="dk1"/>
        </a:solidFill>
        <a:latin typeface="Calibri" pitchFamily="34" charset="0"/>
        <a:ea typeface="宋体" pitchFamily="2" charset="-122"/>
      </a:defRPr>
    </a:lvl2pPr>
    <a:lvl3pPr marL="685800" indent="228600" algn="l" rtl="0" eaLnBrk="1" fontAlgn="base" latinLnBrk="1" hangingPunct="1">
      <a:lnSpc>
        <a:spcPct val="100000"/>
      </a:lnSpc>
      <a:spcBef>
        <a:spcPct val="0"/>
      </a:spcBef>
      <a:spcAft>
        <a:spcPct val="0"/>
      </a:spcAft>
      <a:buFont typeface="Arial" pitchFamily="34" charset="0"/>
      <a:buNone/>
      <a:defRPr sz="1300" b="0" i="0" u="none" baseline="0">
        <a:solidFill>
          <a:schemeClr val="dk1"/>
        </a:solidFill>
        <a:latin typeface="Calibri" pitchFamily="34" charset="0"/>
        <a:ea typeface="宋体" pitchFamily="2" charset="-122"/>
      </a:defRPr>
    </a:lvl3pPr>
    <a:lvl4pPr marL="1028700" indent="342900" algn="l" rtl="0" eaLnBrk="1" fontAlgn="base" latinLnBrk="1" hangingPunct="1">
      <a:lnSpc>
        <a:spcPct val="100000"/>
      </a:lnSpc>
      <a:spcBef>
        <a:spcPct val="0"/>
      </a:spcBef>
      <a:spcAft>
        <a:spcPct val="0"/>
      </a:spcAft>
      <a:buFont typeface="Arial" pitchFamily="34" charset="0"/>
      <a:buNone/>
      <a:defRPr sz="1300" b="0" i="0" u="none" baseline="0">
        <a:solidFill>
          <a:schemeClr val="dk1"/>
        </a:solidFill>
        <a:latin typeface="Calibri" pitchFamily="34" charset="0"/>
        <a:ea typeface="宋体" pitchFamily="2" charset="-122"/>
      </a:defRPr>
    </a:lvl4pPr>
    <a:lvl5pPr marL="1371600" indent="457200" algn="l" rtl="0" eaLnBrk="1" fontAlgn="base" latinLnBrk="1" hangingPunct="1">
      <a:lnSpc>
        <a:spcPct val="100000"/>
      </a:lnSpc>
      <a:spcBef>
        <a:spcPct val="0"/>
      </a:spcBef>
      <a:spcAft>
        <a:spcPct val="0"/>
      </a:spcAft>
      <a:buFont typeface="Arial" pitchFamily="34" charset="0"/>
      <a:buNone/>
      <a:defRPr sz="1300" b="0" i="0" u="none" baseline="0">
        <a:solidFill>
          <a:schemeClr val="dk1"/>
        </a:solidFill>
        <a:latin typeface="Calibri" pitchFamily="34" charset="0"/>
        <a:ea typeface="宋体" pitchFamily="2" charset="-122"/>
      </a:defRPr>
    </a:lvl5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 showGuides="1">
      <p:cViewPr varScale="1">
        <p:scale>
          <a:sx n="89" d="100"/>
          <a:sy n="89" d="100"/>
        </p:scale>
        <p:origin x="84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页眉占位符 1"/>
          <p:cNvSpPr>
            <a:spLocks noGrp="1"/>
          </p:cNvSpPr>
          <p:nvPr>
            <p:ph type="hdr" sz="quarter" idx="4294967295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endParaRPr lang="zh-CN" altLang="en-US" sz="1200"/>
          </a:p>
        </p:txBody>
      </p:sp>
      <p:sp>
        <p:nvSpPr>
          <p:cNvPr id="1048854" name="日期占位符 2"/>
          <p:cNvSpPr>
            <a:spLocks noGrp="1"/>
          </p:cNvSpPr>
          <p:nvPr>
            <p:ph type="dt" sz="quarter" idx="4294967295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algn="r"/>
            <a:fld id="{566ABCEB-ACFC-4714-9973-3DA970169C29}" type="datetime1">
              <a:rPr lang="zh-CN" altLang="en-US" sz="1200"/>
              <a:pPr lvl="0" algn="r"/>
              <a:t>2026/7/18</a:t>
            </a:fld>
            <a:endParaRPr lang="zh-CN" altLang="en-US" sz="1200"/>
          </a:p>
        </p:txBody>
      </p:sp>
      <p:sp>
        <p:nvSpPr>
          <p:cNvPr id="1048855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zh-CN" altLang="en-US" sz="1200"/>
          </a:p>
        </p:txBody>
      </p:sp>
      <p:sp>
        <p:nvSpPr>
          <p:cNvPr id="1048856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566ABCEB-ACFC-4714-9973-3DA970169C29}" type="slidenum">
              <a:rPr lang="zh-CN" altLang="en-US" sz="1200"/>
              <a:pPr lvl="0" algn="r"/>
              <a:t>‹#›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dk1" tx1="dk1" bg2="dk1" tx2="dk1" accent1="dk1" accent2="dk1" accent3="dk1" accent4="dk1" accent5="dk1" accent6="dk1" hlink="dk1" folHlink="dk1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7" name="页眉占位符 1"/>
          <p:cNvSpPr>
            <a:spLocks noGrp="1"/>
          </p:cNvSpPr>
          <p:nvPr>
            <p:ph type="hdr" sz="quarter" idx="4294967295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endParaRPr lang="zh-CN" altLang="en-US" sz="1200"/>
          </a:p>
        </p:txBody>
      </p:sp>
      <p:sp>
        <p:nvSpPr>
          <p:cNvPr id="1048848" name="日期占位符 2"/>
          <p:cNvSpPr>
            <a:spLocks noGrp="1"/>
          </p:cNvSpPr>
          <p:nvPr>
            <p:ph type="dt" idx="4294967295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algn="r"/>
            <a:fld id="{566ABCEB-ACFC-4714-9973-3DA970169C29}" type="datetime1">
              <a:rPr lang="zh-CN" altLang="en-US" sz="1200"/>
              <a:pPr lvl="0" algn="r"/>
              <a:t>2026/7/18</a:t>
            </a:fld>
            <a:endParaRPr lang="zh-CN" altLang="en-US" sz="1200"/>
          </a:p>
        </p:txBody>
      </p:sp>
      <p:sp>
        <p:nvSpPr>
          <p:cNvPr id="1048849" name="幻灯片图像占位符 3"/>
          <p:cNvSpPr>
            <a:spLocks noGrp="1" noRot="1" noChangeAspec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/>
          <a:p>
            <a:endParaRPr/>
          </a:p>
        </p:txBody>
      </p:sp>
      <p:sp>
        <p:nvSpPr>
          <p:cNvPr id="1048850" name="备注占位符 4"/>
          <p:cNvSpPr>
            <a:spLocks noGrp="1"/>
          </p:cNvSpPr>
          <p:nvPr>
            <p:ph type="body" sz="quarter" idx="4294967295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51" name="页脚占位符 5"/>
          <p:cNvSpPr>
            <a:spLocks noGrp="1"/>
          </p:cNvSpPr>
          <p:nvPr>
            <p:ph type="ftr" sz="quarter" idx="4294967295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zh-CN" altLang="en-US" sz="1200"/>
          </a:p>
        </p:txBody>
      </p:sp>
      <p:sp>
        <p:nvSpPr>
          <p:cNvPr id="1048852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566ABCEB-ACFC-4714-9973-3DA970169C29}" type="slidenum">
              <a:rPr lang="zh-CN" altLang="en-US" sz="1200"/>
              <a:pPr lvl="0" algn="r"/>
              <a:t>‹#›</a:t>
            </a:fld>
            <a:endParaRPr lang="zh-CN" altLang="en-US" sz="1200"/>
          </a:p>
        </p:txBody>
      </p:sp>
    </p:spTree>
  </p:cSld>
  <p:clrMap bg1="dk1" tx1="dk1" bg2="dk1" tx2="dk1" accent1="dk1" accent2="dk1" accent3="dk1" accent4="dk1" accent5="dk1" accent6="dk1" hlink="dk1" folHlink="dk1"/>
  <p:notesStyle>
    <a:lvl1pPr marL="0" indent="0" algn="l" rtl="0" eaLnBrk="1" fontAlgn="base" latinLnBrk="1" hangingPunct="1">
      <a:lnSpc>
        <a:spcPct val="100000"/>
      </a:lnSpc>
      <a:spcBef>
        <a:spcPct val="0"/>
      </a:spcBef>
      <a:spcAft>
        <a:spcPct val="0"/>
      </a:spcAft>
      <a:buFontTx/>
      <a:buNone/>
      <a:defRPr sz="1200">
        <a:solidFill>
          <a:schemeClr val="dk1"/>
        </a:solidFill>
        <a:latin typeface="Calibri" pitchFamily="34" charset="0"/>
        <a:ea typeface="宋体" pitchFamily="2" charset="-122"/>
      </a:defRPr>
    </a:lvl1pPr>
    <a:lvl2pPr marL="457200" indent="0" algn="l" rtl="0" eaLnBrk="1" fontAlgn="base" latinLnBrk="1" hangingPunct="1">
      <a:lnSpc>
        <a:spcPct val="100000"/>
      </a:lnSpc>
      <a:spcBef>
        <a:spcPct val="0"/>
      </a:spcBef>
      <a:spcAft>
        <a:spcPct val="0"/>
      </a:spcAft>
      <a:buFontTx/>
      <a:buNone/>
      <a:defRPr sz="1200">
        <a:solidFill>
          <a:schemeClr val="dk1"/>
        </a:solidFill>
        <a:latin typeface="Calibri" pitchFamily="34" charset="0"/>
        <a:ea typeface="宋体" pitchFamily="2" charset="-122"/>
      </a:defRPr>
    </a:lvl2pPr>
    <a:lvl3pPr marL="914400" indent="0" algn="l" rtl="0" eaLnBrk="1" fontAlgn="base" latinLnBrk="1" hangingPunct="1">
      <a:lnSpc>
        <a:spcPct val="100000"/>
      </a:lnSpc>
      <a:spcBef>
        <a:spcPct val="0"/>
      </a:spcBef>
      <a:spcAft>
        <a:spcPct val="0"/>
      </a:spcAft>
      <a:buFontTx/>
      <a:buNone/>
      <a:defRPr sz="1200">
        <a:solidFill>
          <a:schemeClr val="dk1"/>
        </a:solidFill>
        <a:latin typeface="Calibri" pitchFamily="34" charset="0"/>
        <a:ea typeface="宋体" pitchFamily="2" charset="-122"/>
      </a:defRPr>
    </a:lvl3pPr>
    <a:lvl4pPr marL="1371600" indent="0" algn="l" rtl="0" eaLnBrk="1" fontAlgn="base" latinLnBrk="1" hangingPunct="1">
      <a:lnSpc>
        <a:spcPct val="100000"/>
      </a:lnSpc>
      <a:spcBef>
        <a:spcPct val="0"/>
      </a:spcBef>
      <a:spcAft>
        <a:spcPct val="0"/>
      </a:spcAft>
      <a:buFontTx/>
      <a:buNone/>
      <a:defRPr sz="1200">
        <a:solidFill>
          <a:schemeClr val="dk1"/>
        </a:solidFill>
        <a:latin typeface="Calibri" pitchFamily="34" charset="0"/>
        <a:ea typeface="宋体" pitchFamily="2" charset="-122"/>
      </a:defRPr>
    </a:lvl4pPr>
    <a:lvl5pPr marL="1828800" indent="0" algn="l" rtl="0" eaLnBrk="1" fontAlgn="base" latinLnBrk="1" hangingPunct="1">
      <a:lnSpc>
        <a:spcPct val="100000"/>
      </a:lnSpc>
      <a:spcBef>
        <a:spcPct val="0"/>
      </a:spcBef>
      <a:spcAft>
        <a:spcPct val="0"/>
      </a:spcAft>
      <a:buFontTx/>
      <a:buNone/>
      <a:defRPr sz="1200">
        <a:solidFill>
          <a:schemeClr val="dk1"/>
        </a:solidFill>
        <a:latin typeface="Calibri" pitchFamily="34" charset="0"/>
        <a:ea typeface="宋体" pitchFamily="2" charset="-122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69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4879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104879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286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79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4579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r"/>
            <a:fld id="{566ABCEB-ACFC-4714-9973-3DA970169C29}" type="slidenum">
              <a:rPr lang="zh-CN" altLang="en-US" sz="900">
                <a:solidFill>
                  <a:srgbClr val="898989"/>
                </a:solidFill>
                <a:ea typeface="微软雅黑" pitchFamily="34" charset="-122"/>
              </a:rPr>
              <a:pPr lvl="0" algn="r"/>
              <a:t>‹#›</a:t>
            </a:fld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796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4767262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488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48808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286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0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4579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r"/>
            <a:fld id="{566ABCEB-ACFC-4714-9973-3DA970169C29}" type="slidenum">
              <a:rPr lang="zh-CN" altLang="en-US" sz="900">
                <a:solidFill>
                  <a:srgbClr val="898989"/>
                </a:solidFill>
                <a:ea typeface="微软雅黑" pitchFamily="34" charset="-122"/>
              </a:rPr>
              <a:pPr lvl="0" algn="r"/>
              <a:t>‹#›</a:t>
            </a:fld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10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4767262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Title 1"/>
          <p:cNvSpPr>
            <a:spLocks noGrp="1"/>
          </p:cNvSpPr>
          <p:nvPr>
            <p:ph type="title"/>
          </p:nvPr>
        </p:nvSpPr>
        <p:spPr>
          <a:xfrm>
            <a:off x="623887" y="1282303"/>
            <a:ext cx="7886700" cy="213955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4882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7"/>
            <a:ext cx="7886700" cy="112514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4882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286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2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4579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r"/>
            <a:fld id="{566ABCEB-ACFC-4714-9973-3DA970169C29}" type="slidenum">
              <a:rPr lang="zh-CN" altLang="en-US" sz="900">
                <a:solidFill>
                  <a:srgbClr val="898989"/>
                </a:solidFill>
                <a:ea typeface="微软雅黑" pitchFamily="34" charset="-122"/>
              </a:rPr>
              <a:pPr lvl="0" algn="r"/>
              <a:t>‹#›</a:t>
            </a:fld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26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4767262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48828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48829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48830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286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3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4579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r"/>
            <a:fld id="{566ABCEB-ACFC-4714-9973-3DA970169C29}" type="slidenum">
              <a:rPr lang="zh-CN" altLang="en-US" sz="900">
                <a:solidFill>
                  <a:srgbClr val="898989"/>
                </a:solidFill>
                <a:ea typeface="微软雅黑" pitchFamily="34" charset="-122"/>
              </a:rPr>
              <a:pPr lvl="0" algn="r"/>
              <a:t>‹#›</a:t>
            </a:fld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32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4767262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3" name="Title 1"/>
          <p:cNvSpPr>
            <a:spLocks noGrp="1"/>
          </p:cNvSpPr>
          <p:nvPr>
            <p:ph type="title"/>
          </p:nvPr>
        </p:nvSpPr>
        <p:spPr>
          <a:xfrm>
            <a:off x="629841" y="273843"/>
            <a:ext cx="7886700" cy="99417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48834" name="Text Placeholder 2"/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48835" name="Content Placeholder 3"/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3868340" cy="276344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488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48837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48838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286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3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4579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r"/>
            <a:fld id="{566ABCEB-ACFC-4714-9973-3DA970169C29}" type="slidenum">
              <a:rPr lang="zh-CN" altLang="en-US" sz="900">
                <a:solidFill>
                  <a:srgbClr val="898989"/>
                </a:solidFill>
                <a:ea typeface="微软雅黑" pitchFamily="34" charset="-122"/>
              </a:rPr>
              <a:pPr lvl="0" algn="r"/>
              <a:t>‹#›</a:t>
            </a:fld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40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4767262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48798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286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79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4579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r"/>
            <a:fld id="{566ABCEB-ACFC-4714-9973-3DA970169C29}" type="slidenum">
              <a:rPr lang="zh-CN" altLang="en-US" sz="900">
                <a:solidFill>
                  <a:srgbClr val="898989"/>
                </a:solidFill>
                <a:ea typeface="微软雅黑" pitchFamily="34" charset="-122"/>
              </a:rPr>
              <a:pPr lvl="0" algn="r"/>
              <a:t>‹#›</a:t>
            </a:fld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00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4767262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286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58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4579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r"/>
            <a:fld id="{566ABCEB-ACFC-4714-9973-3DA970169C29}" type="slidenum">
              <a:rPr lang="zh-CN" altLang="en-US" sz="900">
                <a:solidFill>
                  <a:srgbClr val="898989"/>
                </a:solidFill>
                <a:ea typeface="微软雅黑" pitchFamily="34" charset="-122"/>
              </a:rPr>
              <a:pPr lvl="0" algn="r"/>
              <a:t>‹#›</a:t>
            </a:fld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582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4767262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7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48842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7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48843" name="Content Placeholder 2"/>
          <p:cNvSpPr>
            <a:spLocks noGrp="1"/>
          </p:cNvSpPr>
          <p:nvPr>
            <p:ph idx="1"/>
          </p:nvPr>
        </p:nvSpPr>
        <p:spPr>
          <a:xfrm>
            <a:off x="3887391" y="740568"/>
            <a:ext cx="4629150" cy="365521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4884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286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4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4579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r"/>
            <a:fld id="{566ABCEB-ACFC-4714-9973-3DA970169C29}" type="slidenum">
              <a:rPr lang="zh-CN" altLang="en-US" sz="900">
                <a:solidFill>
                  <a:srgbClr val="898989"/>
                </a:solidFill>
                <a:ea typeface="微软雅黑" pitchFamily="34" charset="-122"/>
              </a:rPr>
              <a:pPr lvl="0" algn="r"/>
              <a:t>‹#›</a:t>
            </a:fld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46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4767262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7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48812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7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4881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8"/>
            <a:ext cx="4629150" cy="36552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1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286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1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4579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r"/>
            <a:fld id="{566ABCEB-ACFC-4714-9973-3DA970169C29}" type="slidenum">
              <a:rPr lang="zh-CN" altLang="en-US" sz="900">
                <a:solidFill>
                  <a:srgbClr val="898989"/>
                </a:solidFill>
                <a:ea typeface="微软雅黑" pitchFamily="34" charset="-122"/>
              </a:rPr>
              <a:pPr lvl="0" algn="r"/>
              <a:t>‹#›</a:t>
            </a:fld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16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4767262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4881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48819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286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2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4579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r"/>
            <a:fld id="{566ABCEB-ACFC-4714-9973-3DA970169C29}" type="slidenum">
              <a:rPr lang="zh-CN" altLang="en-US" sz="900">
                <a:solidFill>
                  <a:srgbClr val="898989"/>
                </a:solidFill>
                <a:ea typeface="微软雅黑" pitchFamily="34" charset="-122"/>
              </a:rPr>
              <a:pPr lvl="0" algn="r"/>
              <a:t>‹#›</a:t>
            </a:fld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21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4767262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1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4880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48803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286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0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4579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r"/>
            <a:fld id="{566ABCEB-ACFC-4714-9973-3DA970169C29}" type="slidenum">
              <a:rPr lang="zh-CN" altLang="en-US" sz="900">
                <a:solidFill>
                  <a:srgbClr val="898989"/>
                </a:solidFill>
                <a:ea typeface="微软雅黑" pitchFamily="34" charset="-122"/>
              </a:rPr>
              <a:pPr lvl="0" algn="r"/>
              <a:t>‹#›</a:t>
            </a:fld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80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4767262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矩形 98"/>
          <p:cNvSpPr/>
          <p:nvPr/>
        </p:nvSpPr>
        <p:spPr>
          <a:xfrm>
            <a:off x="0" y="1587"/>
            <a:ext cx="9144000" cy="51403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>
              <a:buFontTx/>
              <a:buNone/>
            </a:pPr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grpSp>
        <p:nvGrpSpPr>
          <p:cNvPr id="14" name="Group 11"/>
          <p:cNvGrpSpPr/>
          <p:nvPr/>
        </p:nvGrpSpPr>
        <p:grpSpPr>
          <a:xfrm>
            <a:off x="0" y="0"/>
            <a:ext cx="9144000" cy="5143500"/>
            <a:chOff x="0" y="0"/>
            <a:chExt cx="9144000" cy="5143501"/>
          </a:xfrm>
        </p:grpSpPr>
        <p:cxnSp>
          <p:nvCxnSpPr>
            <p:cNvPr id="3145728" name="直接连接符 7"/>
            <p:cNvCxnSpPr>
              <a:cxnSpLocks/>
            </p:cNvCxnSpPr>
            <p:nvPr/>
          </p:nvCxnSpPr>
          <p:spPr>
            <a:xfrm flipV="1">
              <a:off x="1521823" y="0"/>
              <a:ext cx="164918" cy="1047206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29" name="直接连接符 8"/>
            <p:cNvCxnSpPr>
              <a:cxnSpLocks/>
            </p:cNvCxnSpPr>
            <p:nvPr/>
          </p:nvCxnSpPr>
          <p:spPr>
            <a:xfrm flipH="1">
              <a:off x="0" y="1053737"/>
              <a:ext cx="1521823" cy="73151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30" name="直接连接符 9"/>
            <p:cNvCxnSpPr>
              <a:cxnSpLocks/>
            </p:cNvCxnSpPr>
            <p:nvPr/>
          </p:nvCxnSpPr>
          <p:spPr>
            <a:xfrm flipV="1">
              <a:off x="1524000" y="16600"/>
              <a:ext cx="1049385" cy="1035507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31" name="直接连接符 10"/>
            <p:cNvCxnSpPr>
              <a:cxnSpLocks/>
            </p:cNvCxnSpPr>
            <p:nvPr/>
          </p:nvCxnSpPr>
          <p:spPr>
            <a:xfrm flipH="1">
              <a:off x="1526721" y="896983"/>
              <a:ext cx="1590949" cy="16110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32" name="直接连接符 11"/>
            <p:cNvCxnSpPr>
              <a:cxnSpLocks/>
            </p:cNvCxnSpPr>
            <p:nvPr/>
          </p:nvCxnSpPr>
          <p:spPr>
            <a:xfrm>
              <a:off x="1524000" y="1053737"/>
              <a:ext cx="224243" cy="1175656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33" name="直接连接符 12"/>
            <p:cNvCxnSpPr>
              <a:cxnSpLocks/>
            </p:cNvCxnSpPr>
            <p:nvPr/>
          </p:nvCxnSpPr>
          <p:spPr>
            <a:xfrm flipV="1">
              <a:off x="1748244" y="896985"/>
              <a:ext cx="1369425" cy="1323698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34" name="直接连接符 13"/>
            <p:cNvCxnSpPr>
              <a:cxnSpLocks/>
            </p:cNvCxnSpPr>
            <p:nvPr/>
          </p:nvCxnSpPr>
          <p:spPr>
            <a:xfrm flipH="1" flipV="1">
              <a:off x="1" y="1785257"/>
              <a:ext cx="1748242" cy="43814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35" name="直接连接符 14"/>
            <p:cNvCxnSpPr>
              <a:cxnSpLocks/>
            </p:cNvCxnSpPr>
            <p:nvPr/>
          </p:nvCxnSpPr>
          <p:spPr>
            <a:xfrm>
              <a:off x="1748245" y="2220685"/>
              <a:ext cx="1238795" cy="13062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36" name="直接连接符 15"/>
            <p:cNvCxnSpPr>
              <a:cxnSpLocks/>
            </p:cNvCxnSpPr>
            <p:nvPr/>
          </p:nvCxnSpPr>
          <p:spPr>
            <a:xfrm flipH="1">
              <a:off x="2743199" y="2342606"/>
              <a:ext cx="243841" cy="905691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37" name="直接连接符 16"/>
            <p:cNvCxnSpPr>
              <a:cxnSpLocks/>
            </p:cNvCxnSpPr>
            <p:nvPr/>
          </p:nvCxnSpPr>
          <p:spPr>
            <a:xfrm flipH="1" flipV="1">
              <a:off x="1743891" y="2220684"/>
              <a:ext cx="999310" cy="1036324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38" name="直接连接符 17"/>
            <p:cNvCxnSpPr>
              <a:cxnSpLocks/>
            </p:cNvCxnSpPr>
            <p:nvPr/>
          </p:nvCxnSpPr>
          <p:spPr>
            <a:xfrm flipH="1">
              <a:off x="1741714" y="3248297"/>
              <a:ext cx="1001486" cy="853440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39" name="直接连接符 18"/>
            <p:cNvCxnSpPr>
              <a:cxnSpLocks/>
            </p:cNvCxnSpPr>
            <p:nvPr/>
          </p:nvCxnSpPr>
          <p:spPr>
            <a:xfrm flipV="1">
              <a:off x="1741714" y="2223408"/>
              <a:ext cx="8706" cy="187832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40" name="直接连接符 19"/>
            <p:cNvCxnSpPr>
              <a:cxnSpLocks/>
            </p:cNvCxnSpPr>
            <p:nvPr/>
          </p:nvCxnSpPr>
          <p:spPr>
            <a:xfrm flipH="1">
              <a:off x="681446" y="2225036"/>
              <a:ext cx="1068975" cy="750574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41" name="直接连接符 20"/>
            <p:cNvCxnSpPr>
              <a:cxnSpLocks/>
            </p:cNvCxnSpPr>
            <p:nvPr/>
          </p:nvCxnSpPr>
          <p:spPr>
            <a:xfrm>
              <a:off x="681446" y="2976154"/>
              <a:ext cx="1060268" cy="1116875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42" name="直接连接符 21"/>
            <p:cNvCxnSpPr>
              <a:cxnSpLocks/>
            </p:cNvCxnSpPr>
            <p:nvPr/>
          </p:nvCxnSpPr>
          <p:spPr>
            <a:xfrm flipH="1" flipV="1">
              <a:off x="0" y="1785258"/>
              <a:ext cx="681445" cy="118871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43" name="直接连接符 22"/>
            <p:cNvCxnSpPr>
              <a:cxnSpLocks/>
            </p:cNvCxnSpPr>
            <p:nvPr/>
          </p:nvCxnSpPr>
          <p:spPr>
            <a:xfrm flipH="1">
              <a:off x="0" y="2969623"/>
              <a:ext cx="681446" cy="1123406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44" name="直接连接符 23"/>
            <p:cNvCxnSpPr>
              <a:cxnSpLocks/>
            </p:cNvCxnSpPr>
            <p:nvPr/>
          </p:nvCxnSpPr>
          <p:spPr>
            <a:xfrm flipH="1">
              <a:off x="0" y="3966755"/>
              <a:ext cx="1009652" cy="134982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45" name="直接连接符 24"/>
            <p:cNvCxnSpPr>
              <a:cxnSpLocks/>
            </p:cNvCxnSpPr>
            <p:nvPr/>
          </p:nvCxnSpPr>
          <p:spPr>
            <a:xfrm flipH="1">
              <a:off x="905692" y="4101737"/>
              <a:ext cx="836022" cy="1041763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46" name="直接连接符 25"/>
            <p:cNvCxnSpPr>
              <a:cxnSpLocks/>
            </p:cNvCxnSpPr>
            <p:nvPr/>
          </p:nvCxnSpPr>
          <p:spPr>
            <a:xfrm flipH="1" flipV="1">
              <a:off x="0" y="4101737"/>
              <a:ext cx="905691" cy="1041763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47" name="直接连接符 26"/>
            <p:cNvCxnSpPr>
              <a:cxnSpLocks/>
            </p:cNvCxnSpPr>
            <p:nvPr/>
          </p:nvCxnSpPr>
          <p:spPr>
            <a:xfrm>
              <a:off x="1741714" y="4093029"/>
              <a:ext cx="1175657" cy="391885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48" name="直接连接符 27"/>
            <p:cNvCxnSpPr>
              <a:cxnSpLocks/>
            </p:cNvCxnSpPr>
            <p:nvPr/>
          </p:nvCxnSpPr>
          <p:spPr>
            <a:xfrm flipH="1" flipV="1">
              <a:off x="2741025" y="3257006"/>
              <a:ext cx="176347" cy="122790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49" name="直接连接符 28"/>
            <p:cNvCxnSpPr>
              <a:cxnSpLocks/>
            </p:cNvCxnSpPr>
            <p:nvPr/>
          </p:nvCxnSpPr>
          <p:spPr>
            <a:xfrm flipH="1">
              <a:off x="2211977" y="4484914"/>
              <a:ext cx="705394" cy="658586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50" name="直接连接符 29"/>
            <p:cNvCxnSpPr>
              <a:cxnSpLocks/>
            </p:cNvCxnSpPr>
            <p:nvPr/>
          </p:nvCxnSpPr>
          <p:spPr>
            <a:xfrm flipH="1" flipV="1">
              <a:off x="1741714" y="4101737"/>
              <a:ext cx="452846" cy="1041764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51" name="直接连接符 30"/>
            <p:cNvCxnSpPr>
              <a:cxnSpLocks/>
            </p:cNvCxnSpPr>
            <p:nvPr/>
          </p:nvCxnSpPr>
          <p:spPr>
            <a:xfrm flipV="1">
              <a:off x="2917371" y="4093029"/>
              <a:ext cx="1175658" cy="391885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52" name="直接连接符 31"/>
            <p:cNvCxnSpPr>
              <a:cxnSpLocks/>
            </p:cNvCxnSpPr>
            <p:nvPr/>
          </p:nvCxnSpPr>
          <p:spPr>
            <a:xfrm>
              <a:off x="2917371" y="4484914"/>
              <a:ext cx="1654629" cy="658586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53" name="直接连接符 32"/>
            <p:cNvCxnSpPr>
              <a:cxnSpLocks/>
            </p:cNvCxnSpPr>
            <p:nvPr/>
          </p:nvCxnSpPr>
          <p:spPr>
            <a:xfrm>
              <a:off x="4093029" y="4101737"/>
              <a:ext cx="478971" cy="1041763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54" name="直接连接符 33"/>
            <p:cNvCxnSpPr>
              <a:cxnSpLocks/>
            </p:cNvCxnSpPr>
            <p:nvPr/>
          </p:nvCxnSpPr>
          <p:spPr>
            <a:xfrm flipH="1" flipV="1">
              <a:off x="2743200" y="3257006"/>
              <a:ext cx="1349829" cy="844731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55" name="直接连接符 34"/>
            <p:cNvCxnSpPr>
              <a:cxnSpLocks/>
            </p:cNvCxnSpPr>
            <p:nvPr/>
          </p:nvCxnSpPr>
          <p:spPr>
            <a:xfrm flipV="1">
              <a:off x="4093029" y="2690949"/>
              <a:ext cx="296091" cy="141078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56" name="直接连接符 35"/>
            <p:cNvCxnSpPr>
              <a:cxnSpLocks/>
            </p:cNvCxnSpPr>
            <p:nvPr/>
          </p:nvCxnSpPr>
          <p:spPr>
            <a:xfrm flipH="1">
              <a:off x="2743200" y="2690949"/>
              <a:ext cx="1645920" cy="557348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57" name="直接连接符 36"/>
            <p:cNvCxnSpPr>
              <a:cxnSpLocks/>
            </p:cNvCxnSpPr>
            <p:nvPr/>
          </p:nvCxnSpPr>
          <p:spPr>
            <a:xfrm>
              <a:off x="2987040" y="2351314"/>
              <a:ext cx="1402080" cy="339635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58" name="直接连接符 37"/>
            <p:cNvCxnSpPr>
              <a:cxnSpLocks/>
            </p:cNvCxnSpPr>
            <p:nvPr/>
          </p:nvCxnSpPr>
          <p:spPr>
            <a:xfrm flipV="1">
              <a:off x="2987040" y="896983"/>
              <a:ext cx="130629" cy="1445623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59" name="直接连接符 38"/>
            <p:cNvCxnSpPr>
              <a:cxnSpLocks/>
            </p:cNvCxnSpPr>
            <p:nvPr/>
          </p:nvCxnSpPr>
          <p:spPr>
            <a:xfrm flipV="1">
              <a:off x="2987040" y="1402080"/>
              <a:ext cx="1227909" cy="949234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60" name="直接连接符 39"/>
            <p:cNvCxnSpPr>
              <a:cxnSpLocks/>
            </p:cNvCxnSpPr>
            <p:nvPr/>
          </p:nvCxnSpPr>
          <p:spPr>
            <a:xfrm>
              <a:off x="4214949" y="1402080"/>
              <a:ext cx="174171" cy="128886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61" name="直接连接符 40"/>
            <p:cNvCxnSpPr>
              <a:cxnSpLocks/>
            </p:cNvCxnSpPr>
            <p:nvPr/>
          </p:nvCxnSpPr>
          <p:spPr>
            <a:xfrm flipH="1" flipV="1">
              <a:off x="3117669" y="896983"/>
              <a:ext cx="1097280" cy="505097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62" name="直接连接符 41"/>
            <p:cNvCxnSpPr>
              <a:cxnSpLocks/>
            </p:cNvCxnSpPr>
            <p:nvPr/>
          </p:nvCxnSpPr>
          <p:spPr>
            <a:xfrm flipH="1" flipV="1">
              <a:off x="2569029" y="0"/>
              <a:ext cx="548640" cy="896983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63" name="直接连接符 42"/>
            <p:cNvCxnSpPr>
              <a:cxnSpLocks/>
            </p:cNvCxnSpPr>
            <p:nvPr/>
          </p:nvCxnSpPr>
          <p:spPr>
            <a:xfrm flipV="1">
              <a:off x="3117668" y="1"/>
              <a:ext cx="1454332" cy="881742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64" name="直接连接符 43"/>
            <p:cNvCxnSpPr>
              <a:cxnSpLocks/>
            </p:cNvCxnSpPr>
            <p:nvPr/>
          </p:nvCxnSpPr>
          <p:spPr>
            <a:xfrm flipV="1">
              <a:off x="4214949" y="0"/>
              <a:ext cx="357051" cy="1402080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65" name="直接连接符 44"/>
            <p:cNvCxnSpPr>
              <a:cxnSpLocks/>
            </p:cNvCxnSpPr>
            <p:nvPr/>
          </p:nvCxnSpPr>
          <p:spPr>
            <a:xfrm>
              <a:off x="4572000" y="0"/>
              <a:ext cx="1201783" cy="61830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66" name="直接连接符 45"/>
            <p:cNvCxnSpPr>
              <a:cxnSpLocks/>
            </p:cNvCxnSpPr>
            <p:nvPr/>
          </p:nvCxnSpPr>
          <p:spPr>
            <a:xfrm flipH="1">
              <a:off x="4214949" y="618309"/>
              <a:ext cx="1558834" cy="783771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67" name="直接连接符 46"/>
            <p:cNvCxnSpPr>
              <a:cxnSpLocks/>
            </p:cNvCxnSpPr>
            <p:nvPr/>
          </p:nvCxnSpPr>
          <p:spPr>
            <a:xfrm flipH="1">
              <a:off x="5503818" y="618309"/>
              <a:ext cx="269965" cy="1105988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68" name="直接连接符 47"/>
            <p:cNvCxnSpPr>
              <a:cxnSpLocks/>
            </p:cNvCxnSpPr>
            <p:nvPr/>
          </p:nvCxnSpPr>
          <p:spPr>
            <a:xfrm flipH="1" flipV="1">
              <a:off x="4214950" y="1402081"/>
              <a:ext cx="1288868" cy="322216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69" name="直接连接符 48"/>
            <p:cNvCxnSpPr>
              <a:cxnSpLocks/>
            </p:cNvCxnSpPr>
            <p:nvPr/>
          </p:nvCxnSpPr>
          <p:spPr>
            <a:xfrm flipH="1">
              <a:off x="4389120" y="1733006"/>
              <a:ext cx="1105989" cy="957943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70" name="直接连接符 49"/>
            <p:cNvCxnSpPr>
              <a:cxnSpLocks/>
            </p:cNvCxnSpPr>
            <p:nvPr/>
          </p:nvCxnSpPr>
          <p:spPr>
            <a:xfrm>
              <a:off x="4389120" y="2690949"/>
              <a:ext cx="1384663" cy="627017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71" name="直接连接符 50"/>
            <p:cNvCxnSpPr>
              <a:cxnSpLocks/>
            </p:cNvCxnSpPr>
            <p:nvPr/>
          </p:nvCxnSpPr>
          <p:spPr>
            <a:xfrm flipH="1" flipV="1">
              <a:off x="5512525" y="1724297"/>
              <a:ext cx="261259" cy="1593670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72" name="直接连接符 51"/>
            <p:cNvCxnSpPr>
              <a:cxnSpLocks/>
            </p:cNvCxnSpPr>
            <p:nvPr/>
          </p:nvCxnSpPr>
          <p:spPr>
            <a:xfrm flipH="1">
              <a:off x="5267325" y="3317966"/>
              <a:ext cx="506459" cy="914397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73" name="直接连接符 52"/>
            <p:cNvCxnSpPr>
              <a:cxnSpLocks/>
            </p:cNvCxnSpPr>
            <p:nvPr/>
          </p:nvCxnSpPr>
          <p:spPr>
            <a:xfrm flipH="1" flipV="1">
              <a:off x="4093030" y="4101737"/>
              <a:ext cx="1174295" cy="130628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74" name="直接连接符 53"/>
            <p:cNvCxnSpPr>
              <a:cxnSpLocks/>
            </p:cNvCxnSpPr>
            <p:nvPr/>
          </p:nvCxnSpPr>
          <p:spPr>
            <a:xfrm flipH="1">
              <a:off x="4572000" y="4232365"/>
              <a:ext cx="695325" cy="911135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75" name="直接连接符 54"/>
            <p:cNvCxnSpPr>
              <a:cxnSpLocks/>
            </p:cNvCxnSpPr>
            <p:nvPr/>
          </p:nvCxnSpPr>
          <p:spPr>
            <a:xfrm flipV="1">
              <a:off x="5773783" y="0"/>
              <a:ext cx="269966" cy="61830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76" name="直接连接符 55"/>
            <p:cNvCxnSpPr>
              <a:cxnSpLocks/>
            </p:cNvCxnSpPr>
            <p:nvPr/>
          </p:nvCxnSpPr>
          <p:spPr>
            <a:xfrm flipH="1" flipV="1">
              <a:off x="5773783" y="618309"/>
              <a:ext cx="1454331" cy="783771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77" name="直接连接符 56"/>
            <p:cNvCxnSpPr>
              <a:cxnSpLocks/>
            </p:cNvCxnSpPr>
            <p:nvPr/>
          </p:nvCxnSpPr>
          <p:spPr>
            <a:xfrm flipH="1">
              <a:off x="5512525" y="1402080"/>
              <a:ext cx="1698172" cy="317863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78" name="直接连接符 57"/>
            <p:cNvCxnSpPr>
              <a:cxnSpLocks/>
            </p:cNvCxnSpPr>
            <p:nvPr/>
          </p:nvCxnSpPr>
          <p:spPr>
            <a:xfrm flipV="1">
              <a:off x="5773783" y="2455817"/>
              <a:ext cx="1158240" cy="862150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79" name="直接连接符 58"/>
            <p:cNvCxnSpPr>
              <a:cxnSpLocks/>
            </p:cNvCxnSpPr>
            <p:nvPr/>
          </p:nvCxnSpPr>
          <p:spPr>
            <a:xfrm flipV="1">
              <a:off x="6932023" y="1402080"/>
              <a:ext cx="278674" cy="1053737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80" name="直接连接符 59"/>
            <p:cNvCxnSpPr>
              <a:cxnSpLocks/>
            </p:cNvCxnSpPr>
            <p:nvPr/>
          </p:nvCxnSpPr>
          <p:spPr>
            <a:xfrm>
              <a:off x="6932023" y="2455817"/>
              <a:ext cx="296091" cy="882287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81" name="直接连接符 60"/>
            <p:cNvCxnSpPr>
              <a:cxnSpLocks/>
            </p:cNvCxnSpPr>
            <p:nvPr/>
          </p:nvCxnSpPr>
          <p:spPr>
            <a:xfrm flipH="1" flipV="1">
              <a:off x="5773784" y="3317967"/>
              <a:ext cx="1445623" cy="1142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82" name="直接连接符 61"/>
            <p:cNvCxnSpPr>
              <a:cxnSpLocks/>
            </p:cNvCxnSpPr>
            <p:nvPr/>
          </p:nvCxnSpPr>
          <p:spPr>
            <a:xfrm flipH="1" flipV="1">
              <a:off x="5782490" y="3325110"/>
              <a:ext cx="1149533" cy="1029177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83" name="直接连接符 62"/>
            <p:cNvCxnSpPr>
              <a:cxnSpLocks/>
            </p:cNvCxnSpPr>
            <p:nvPr/>
          </p:nvCxnSpPr>
          <p:spPr>
            <a:xfrm>
              <a:off x="5276031" y="4232363"/>
              <a:ext cx="1203146" cy="911137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84" name="直接连接符 63"/>
            <p:cNvCxnSpPr>
              <a:cxnSpLocks/>
            </p:cNvCxnSpPr>
            <p:nvPr/>
          </p:nvCxnSpPr>
          <p:spPr>
            <a:xfrm flipV="1">
              <a:off x="6479177" y="4362994"/>
              <a:ext cx="452846" cy="780506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85" name="直接连接符 64"/>
            <p:cNvCxnSpPr>
              <a:cxnSpLocks/>
            </p:cNvCxnSpPr>
            <p:nvPr/>
          </p:nvCxnSpPr>
          <p:spPr>
            <a:xfrm flipH="1" flipV="1">
              <a:off x="5267325" y="4223659"/>
              <a:ext cx="1664699" cy="139336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86" name="直接连接符 65"/>
            <p:cNvCxnSpPr>
              <a:cxnSpLocks/>
            </p:cNvCxnSpPr>
            <p:nvPr/>
          </p:nvCxnSpPr>
          <p:spPr>
            <a:xfrm flipV="1">
              <a:off x="6932023" y="3329394"/>
              <a:ext cx="296091" cy="1033602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87" name="直接连接符 66"/>
            <p:cNvCxnSpPr>
              <a:cxnSpLocks/>
            </p:cNvCxnSpPr>
            <p:nvPr/>
          </p:nvCxnSpPr>
          <p:spPr>
            <a:xfrm>
              <a:off x="6932023" y="4362994"/>
              <a:ext cx="1045028" cy="780506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88" name="直接连接符 67"/>
            <p:cNvCxnSpPr>
              <a:cxnSpLocks/>
            </p:cNvCxnSpPr>
            <p:nvPr/>
          </p:nvCxnSpPr>
          <p:spPr>
            <a:xfrm flipH="1" flipV="1">
              <a:off x="7212874" y="1402080"/>
              <a:ext cx="598715" cy="1024890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89" name="直接连接符 68"/>
            <p:cNvCxnSpPr>
              <a:cxnSpLocks/>
            </p:cNvCxnSpPr>
            <p:nvPr/>
          </p:nvCxnSpPr>
          <p:spPr>
            <a:xfrm flipV="1">
              <a:off x="7210697" y="522514"/>
              <a:ext cx="766354" cy="879566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90" name="直接连接符 69"/>
            <p:cNvCxnSpPr>
              <a:cxnSpLocks/>
            </p:cNvCxnSpPr>
            <p:nvPr/>
          </p:nvCxnSpPr>
          <p:spPr>
            <a:xfrm flipH="1" flipV="1">
              <a:off x="7280365" y="0"/>
              <a:ext cx="696687" cy="522515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91" name="直接连接符 70"/>
            <p:cNvCxnSpPr>
              <a:cxnSpLocks/>
            </p:cNvCxnSpPr>
            <p:nvPr/>
          </p:nvCxnSpPr>
          <p:spPr>
            <a:xfrm flipV="1">
              <a:off x="7977051" y="0"/>
              <a:ext cx="1166949" cy="522514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92" name="直接连接符 71"/>
            <p:cNvCxnSpPr>
              <a:cxnSpLocks/>
            </p:cNvCxnSpPr>
            <p:nvPr/>
          </p:nvCxnSpPr>
          <p:spPr>
            <a:xfrm>
              <a:off x="7977051" y="522514"/>
              <a:ext cx="1166949" cy="531223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93" name="直接连接符 72"/>
            <p:cNvCxnSpPr>
              <a:cxnSpLocks/>
            </p:cNvCxnSpPr>
            <p:nvPr/>
          </p:nvCxnSpPr>
          <p:spPr>
            <a:xfrm flipH="1">
              <a:off x="8490857" y="1053737"/>
              <a:ext cx="653143" cy="827314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94" name="直接连接符 73"/>
            <p:cNvCxnSpPr>
              <a:cxnSpLocks/>
            </p:cNvCxnSpPr>
            <p:nvPr/>
          </p:nvCxnSpPr>
          <p:spPr>
            <a:xfrm flipH="1" flipV="1">
              <a:off x="7977051" y="522514"/>
              <a:ext cx="513806" cy="1358537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95" name="直接连接符 74"/>
            <p:cNvCxnSpPr>
              <a:cxnSpLocks/>
            </p:cNvCxnSpPr>
            <p:nvPr/>
          </p:nvCxnSpPr>
          <p:spPr>
            <a:xfrm flipH="1" flipV="1">
              <a:off x="7228114" y="1402080"/>
              <a:ext cx="1262743" cy="478971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96" name="直接连接符 75"/>
            <p:cNvCxnSpPr>
              <a:cxnSpLocks/>
            </p:cNvCxnSpPr>
            <p:nvPr/>
          </p:nvCxnSpPr>
          <p:spPr>
            <a:xfrm flipH="1">
              <a:off x="7811589" y="1881051"/>
              <a:ext cx="679268" cy="539932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97" name="直接连接符 76"/>
            <p:cNvCxnSpPr>
              <a:cxnSpLocks/>
            </p:cNvCxnSpPr>
            <p:nvPr/>
          </p:nvCxnSpPr>
          <p:spPr>
            <a:xfrm>
              <a:off x="8490857" y="1881051"/>
              <a:ext cx="653143" cy="69069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98" name="直接连接符 77"/>
            <p:cNvCxnSpPr>
              <a:cxnSpLocks/>
            </p:cNvCxnSpPr>
            <p:nvPr/>
          </p:nvCxnSpPr>
          <p:spPr>
            <a:xfrm>
              <a:off x="7228114" y="3329396"/>
              <a:ext cx="923109" cy="579598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799" name="直接连接符 78"/>
            <p:cNvCxnSpPr>
              <a:cxnSpLocks/>
            </p:cNvCxnSpPr>
            <p:nvPr/>
          </p:nvCxnSpPr>
          <p:spPr>
            <a:xfrm flipV="1">
              <a:off x="8151223" y="2571752"/>
              <a:ext cx="992777" cy="1337242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00" name="直接连接符 79"/>
            <p:cNvCxnSpPr>
              <a:cxnSpLocks/>
            </p:cNvCxnSpPr>
            <p:nvPr/>
          </p:nvCxnSpPr>
          <p:spPr>
            <a:xfrm>
              <a:off x="8151223" y="3908994"/>
              <a:ext cx="992777" cy="1234506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01" name="直接连接符 80"/>
            <p:cNvCxnSpPr>
              <a:cxnSpLocks/>
            </p:cNvCxnSpPr>
            <p:nvPr/>
          </p:nvCxnSpPr>
          <p:spPr>
            <a:xfrm flipH="1">
              <a:off x="7977053" y="3917702"/>
              <a:ext cx="174170" cy="1225798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02" name="直接连接符 81"/>
            <p:cNvCxnSpPr>
              <a:cxnSpLocks/>
            </p:cNvCxnSpPr>
            <p:nvPr/>
          </p:nvCxnSpPr>
          <p:spPr>
            <a:xfrm flipH="1" flipV="1">
              <a:off x="5519058" y="1724296"/>
              <a:ext cx="1412965" cy="731521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03" name="直接连接符 82"/>
            <p:cNvCxnSpPr>
              <a:cxnSpLocks/>
            </p:cNvCxnSpPr>
            <p:nvPr/>
          </p:nvCxnSpPr>
          <p:spPr>
            <a:xfrm flipV="1">
              <a:off x="7228114" y="2426970"/>
              <a:ext cx="583475" cy="902426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04" name="直接连接符 83"/>
            <p:cNvCxnSpPr>
              <a:cxnSpLocks/>
            </p:cNvCxnSpPr>
            <p:nvPr/>
          </p:nvCxnSpPr>
          <p:spPr>
            <a:xfrm>
              <a:off x="7811589" y="2426970"/>
              <a:ext cx="1332411" cy="144780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05" name="直接连接符 84"/>
            <p:cNvCxnSpPr>
              <a:cxnSpLocks/>
            </p:cNvCxnSpPr>
            <p:nvPr/>
          </p:nvCxnSpPr>
          <p:spPr>
            <a:xfrm flipH="1">
              <a:off x="6932023" y="2426970"/>
              <a:ext cx="879566" cy="28847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06" name="直接连接符 85"/>
            <p:cNvCxnSpPr>
              <a:cxnSpLocks/>
            </p:cNvCxnSpPr>
            <p:nvPr/>
          </p:nvCxnSpPr>
          <p:spPr>
            <a:xfrm>
              <a:off x="7811589" y="2426970"/>
              <a:ext cx="339634" cy="1482024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07" name="直接连接符 86"/>
            <p:cNvCxnSpPr>
              <a:cxnSpLocks/>
            </p:cNvCxnSpPr>
            <p:nvPr/>
          </p:nvCxnSpPr>
          <p:spPr>
            <a:xfrm flipH="1">
              <a:off x="7201989" y="0"/>
              <a:ext cx="87086" cy="1409223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08" name="直接连接符 87"/>
            <p:cNvCxnSpPr>
              <a:cxnSpLocks/>
            </p:cNvCxnSpPr>
            <p:nvPr/>
          </p:nvCxnSpPr>
          <p:spPr>
            <a:xfrm flipH="1" flipV="1">
              <a:off x="4389120" y="2690949"/>
              <a:ext cx="878205" cy="1541414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09" name="直接连接符 88"/>
            <p:cNvCxnSpPr>
              <a:cxnSpLocks/>
            </p:cNvCxnSpPr>
            <p:nvPr/>
          </p:nvCxnSpPr>
          <p:spPr>
            <a:xfrm flipH="1" flipV="1">
              <a:off x="677363" y="2969623"/>
              <a:ext cx="332289" cy="992777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10" name="直接连接符 89"/>
            <p:cNvCxnSpPr>
              <a:cxnSpLocks/>
            </p:cNvCxnSpPr>
            <p:nvPr/>
          </p:nvCxnSpPr>
          <p:spPr>
            <a:xfrm>
              <a:off x="1007203" y="3971108"/>
              <a:ext cx="741042" cy="130628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11" name="直接连接符 90"/>
            <p:cNvCxnSpPr>
              <a:cxnSpLocks/>
            </p:cNvCxnSpPr>
            <p:nvPr/>
          </p:nvCxnSpPr>
          <p:spPr>
            <a:xfrm flipH="1">
              <a:off x="905691" y="3971108"/>
              <a:ext cx="103961" cy="116803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12" name="直接连接符 91"/>
            <p:cNvCxnSpPr>
              <a:cxnSpLocks/>
            </p:cNvCxnSpPr>
            <p:nvPr/>
          </p:nvCxnSpPr>
          <p:spPr>
            <a:xfrm flipV="1">
              <a:off x="6932023" y="3917702"/>
              <a:ext cx="1203146" cy="445293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13" name="直接连接符 92"/>
            <p:cNvCxnSpPr>
              <a:cxnSpLocks/>
            </p:cNvCxnSpPr>
            <p:nvPr/>
          </p:nvCxnSpPr>
          <p:spPr>
            <a:xfrm flipV="1">
              <a:off x="8151223" y="3675017"/>
              <a:ext cx="992777" cy="233977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14" name="直接连接符 93"/>
            <p:cNvCxnSpPr>
              <a:cxnSpLocks/>
            </p:cNvCxnSpPr>
            <p:nvPr/>
          </p:nvCxnSpPr>
          <p:spPr>
            <a:xfrm flipH="1">
              <a:off x="548640" y="0"/>
              <a:ext cx="1138101" cy="701040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15" name="直接连接符 94"/>
            <p:cNvCxnSpPr>
              <a:cxnSpLocks/>
            </p:cNvCxnSpPr>
            <p:nvPr/>
          </p:nvCxnSpPr>
          <p:spPr>
            <a:xfrm>
              <a:off x="551907" y="701040"/>
              <a:ext cx="969372" cy="351067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16" name="直接连接符 95"/>
            <p:cNvCxnSpPr>
              <a:cxnSpLocks/>
            </p:cNvCxnSpPr>
            <p:nvPr/>
          </p:nvCxnSpPr>
          <p:spPr>
            <a:xfrm flipH="1">
              <a:off x="0" y="701040"/>
              <a:ext cx="544287" cy="1084217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17" name="直接连接符 96"/>
            <p:cNvCxnSpPr>
              <a:cxnSpLocks/>
            </p:cNvCxnSpPr>
            <p:nvPr/>
          </p:nvCxnSpPr>
          <p:spPr>
            <a:xfrm flipH="1" flipV="1">
              <a:off x="0" y="0"/>
              <a:ext cx="546466" cy="69450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  <p:cxnSp>
          <p:nvCxnSpPr>
            <p:cNvPr id="3145818" name="直接连接符 97"/>
            <p:cNvCxnSpPr>
              <a:cxnSpLocks/>
            </p:cNvCxnSpPr>
            <p:nvPr/>
          </p:nvCxnSpPr>
          <p:spPr>
            <a:xfrm flipH="1">
              <a:off x="5782491" y="16600"/>
              <a:ext cx="1506584" cy="601709"/>
            </a:xfrm>
            <a:prstGeom prst="line">
              <a:avLst/>
            </a:prstGeom>
            <a:noFill/>
            <a:ln w="9525" cap="flat" cmpd="sng">
              <a:solidFill>
                <a:srgbClr val="CDCDCD">
                  <a:alpha val="100000"/>
                </a:srgbClr>
              </a:solidFill>
              <a:prstDash val="dash"/>
              <a:round/>
            </a:ln>
          </p:spPr>
        </p:cxnSp>
      </p:grpSp>
      <p:sp>
        <p:nvSpPr>
          <p:cNvPr id="1048577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286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578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4767262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>
              <a:buFontTx/>
              <a:buNone/>
            </a:pPr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  <p:sp>
        <p:nvSpPr>
          <p:cNvPr id="104857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457950" y="476726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r"/>
            <a:fld id="{566ABCEB-ACFC-4714-9973-3DA970169C29}" type="slidenum">
              <a:rPr lang="zh-CN" altLang="en-US" sz="900">
                <a:solidFill>
                  <a:srgbClr val="898989"/>
                </a:solidFill>
                <a:ea typeface="微软雅黑" pitchFamily="34" charset="-122"/>
              </a:rPr>
              <a:pPr lvl="0" algn="r"/>
              <a:t>‹#›</a:t>
            </a:fld>
            <a:endParaRPr lang="zh-CN" altLang="en-US" sz="900">
              <a:solidFill>
                <a:srgbClr val="898989"/>
              </a:solidFill>
              <a:ea typeface="微软雅黑" pitchFamily="34" charset="-122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ftr="0" dt="0"/>
  <p:txStyles>
    <p:titleStyle>
      <a:lvl1pPr marL="0" indent="0"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buFontTx/>
        <a:buNone/>
        <a:defRPr sz="3300">
          <a:solidFill>
            <a:schemeClr val="dk1"/>
          </a:solidFill>
          <a:latin typeface="Calibri Light" pitchFamily="34" charset="0"/>
          <a:ea typeface="宋体" pitchFamily="2" charset="-122"/>
        </a:defRPr>
      </a:lvl1pPr>
    </p:titleStyle>
    <p:bodyStyle>
      <a:lvl1pPr marL="171450" indent="-171450" algn="l" rtl="0" eaLnBrk="1" fontAlgn="base" latinLnBrk="1" hangingPunct="1">
        <a:lnSpc>
          <a:spcPct val="90000"/>
        </a:lnSpc>
        <a:spcBef>
          <a:spcPts val="750"/>
        </a:spcBef>
        <a:spcAft>
          <a:spcPct val="0"/>
        </a:spcAft>
        <a:buSzPct val="100000"/>
        <a:buFont typeface="Arial" pitchFamily="34" charset="0"/>
        <a:buChar char="•"/>
        <a:defRPr sz="2100">
          <a:solidFill>
            <a:schemeClr val="dk1"/>
          </a:solidFill>
          <a:latin typeface="Calibri" pitchFamily="34" charset="0"/>
          <a:ea typeface="宋体" pitchFamily="2" charset="-122"/>
        </a:defRPr>
      </a:lvl1pPr>
      <a:lvl2pPr marL="514350" indent="-171450" algn="l" rtl="0" eaLnBrk="1" fontAlgn="base" latinLnBrk="1" hangingPunct="1">
        <a:lnSpc>
          <a:spcPct val="90000"/>
        </a:lnSpc>
        <a:spcBef>
          <a:spcPts val="375"/>
        </a:spcBef>
        <a:spcAft>
          <a:spcPct val="0"/>
        </a:spcAft>
        <a:buSzPct val="100000"/>
        <a:buFont typeface="Arial" pitchFamily="34" charset="0"/>
        <a:buChar char="•"/>
        <a:defRPr sz="2100">
          <a:solidFill>
            <a:schemeClr val="dk1"/>
          </a:solidFill>
          <a:latin typeface="Calibri" pitchFamily="34" charset="0"/>
          <a:ea typeface="宋体" pitchFamily="2" charset="-122"/>
        </a:defRPr>
      </a:lvl2pPr>
      <a:lvl3pPr marL="857250" indent="-171450" algn="l" rtl="0" eaLnBrk="1" fontAlgn="base" latinLnBrk="1" hangingPunct="1">
        <a:lnSpc>
          <a:spcPct val="90000"/>
        </a:lnSpc>
        <a:spcBef>
          <a:spcPts val="375"/>
        </a:spcBef>
        <a:spcAft>
          <a:spcPct val="0"/>
        </a:spcAft>
        <a:buSzPct val="100000"/>
        <a:buFont typeface="Arial" pitchFamily="34" charset="0"/>
        <a:buChar char="•"/>
        <a:defRPr sz="1500">
          <a:solidFill>
            <a:schemeClr val="dk1"/>
          </a:solidFill>
          <a:latin typeface="Calibri" pitchFamily="34" charset="0"/>
          <a:ea typeface="宋体" pitchFamily="2" charset="-122"/>
        </a:defRPr>
      </a:lvl3pPr>
      <a:lvl4pPr marL="1200150" indent="-171450" algn="l" rtl="0" eaLnBrk="1" fontAlgn="base" latinLnBrk="1" hangingPunct="1">
        <a:lnSpc>
          <a:spcPct val="90000"/>
        </a:lnSpc>
        <a:spcBef>
          <a:spcPts val="375"/>
        </a:spcBef>
        <a:spcAft>
          <a:spcPct val="0"/>
        </a:spcAft>
        <a:buSzPct val="100000"/>
        <a:buFont typeface="Arial" pitchFamily="34" charset="0"/>
        <a:buChar char="•"/>
        <a:defRPr sz="1300">
          <a:solidFill>
            <a:schemeClr val="dk1"/>
          </a:solidFill>
          <a:latin typeface="Calibri" pitchFamily="34" charset="0"/>
          <a:ea typeface="宋体" pitchFamily="2" charset="-122"/>
        </a:defRPr>
      </a:lvl4pPr>
      <a:lvl5pPr marL="1543050" indent="-171450" algn="l" rtl="0" eaLnBrk="1" fontAlgn="base" latinLnBrk="1" hangingPunct="1">
        <a:lnSpc>
          <a:spcPct val="90000"/>
        </a:lnSpc>
        <a:spcBef>
          <a:spcPts val="375"/>
        </a:spcBef>
        <a:spcAft>
          <a:spcPct val="0"/>
        </a:spcAft>
        <a:buSzPct val="100000"/>
        <a:buFont typeface="Arial" pitchFamily="34" charset="0"/>
        <a:buChar char="•"/>
        <a:defRPr sz="1300">
          <a:solidFill>
            <a:schemeClr val="dk1"/>
          </a:solidFill>
          <a:latin typeface="Calibri" pitchFamily="34" charset="0"/>
          <a:ea typeface="宋体" pitchFamily="2" charset="-122"/>
        </a:defRPr>
      </a:lvl5pPr>
    </p:bodyStyle>
    <p:otherStyle>
      <a:lvl1pPr marL="0" indent="0" algn="l" rtl="0" eaLnBrk="1" fontAlgn="base" latinLnBrk="1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Calibri" pitchFamily="34" charset="0"/>
          <a:ea typeface="宋体" pitchFamily="2" charset="-122"/>
        </a:defRPr>
      </a:lvl1pPr>
      <a:lvl2pPr marL="457200" indent="0" algn="l" rtl="0" eaLnBrk="1" fontAlgn="base" latinLnBrk="1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Calibri" pitchFamily="34" charset="0"/>
          <a:ea typeface="宋体" pitchFamily="2" charset="-122"/>
        </a:defRPr>
      </a:lvl2pPr>
      <a:lvl3pPr marL="914400" indent="0" algn="l" rtl="0" eaLnBrk="1" fontAlgn="base" latinLnBrk="1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Calibri" pitchFamily="34" charset="0"/>
          <a:ea typeface="宋体" pitchFamily="2" charset="-122"/>
        </a:defRPr>
      </a:lvl3pPr>
      <a:lvl4pPr marL="1371600" indent="0" algn="l" rtl="0" eaLnBrk="1" fontAlgn="base" latinLnBrk="1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Calibri" pitchFamily="34" charset="0"/>
          <a:ea typeface="宋体" pitchFamily="2" charset="-122"/>
        </a:defRPr>
      </a:lvl4pPr>
      <a:lvl5pPr marL="1828800" indent="0" algn="l" rtl="0" eaLnBrk="1" fontAlgn="base" latinLnBrk="1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Calibri" pitchFamily="34" charset="0"/>
          <a:ea typeface="宋体" pitchFamily="2" charset="-122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nAAhdfyb5DqZUfupO-aweXxZayBFbijz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2" descr="Logo desig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3477" y="-73030"/>
            <a:ext cx="1752600" cy="1409700"/>
          </a:xfrm>
          <a:prstGeom prst="rect">
            <a:avLst/>
          </a:prstGeom>
          <a:noFill/>
        </p:spPr>
      </p:pic>
      <p:grpSp>
        <p:nvGrpSpPr>
          <p:cNvPr id="28" name="Group 13"/>
          <p:cNvGrpSpPr/>
          <p:nvPr/>
        </p:nvGrpSpPr>
        <p:grpSpPr>
          <a:xfrm>
            <a:off x="7789862" y="2112962"/>
            <a:ext cx="1354137" cy="2157412"/>
            <a:chOff x="0" y="0"/>
            <a:chExt cx="1353515" cy="2158048"/>
          </a:xfrm>
        </p:grpSpPr>
        <p:sp>
          <p:nvSpPr>
            <p:cNvPr id="1048583" name="矩形 401"/>
            <p:cNvSpPr/>
            <p:nvPr/>
          </p:nvSpPr>
          <p:spPr>
            <a:xfrm>
              <a:off x="1" y="0"/>
              <a:ext cx="1008000" cy="1150190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584" name="直角三角形 407"/>
            <p:cNvSpPr/>
            <p:nvPr/>
          </p:nvSpPr>
          <p:spPr>
            <a:xfrm rot="5400000" flipV="1">
              <a:off x="0" y="1150048"/>
              <a:ext cx="1008000" cy="1008000"/>
            </a:xfrm>
            <a:prstGeom prst="rtTriangle">
              <a:avLst/>
            </a:prstGeom>
            <a:solidFill>
              <a:srgbClr val="111E35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585" name="矩形 410"/>
            <p:cNvSpPr/>
            <p:nvPr/>
          </p:nvSpPr>
          <p:spPr>
            <a:xfrm>
              <a:off x="1008000" y="1150048"/>
              <a:ext cx="345515" cy="1008000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048586" name="矩形 400"/>
          <p:cNvSpPr/>
          <p:nvPr/>
        </p:nvSpPr>
        <p:spPr>
          <a:xfrm flipH="1">
            <a:off x="735012" y="0"/>
            <a:ext cx="576262" cy="21129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grpSp>
        <p:nvGrpSpPr>
          <p:cNvPr id="29" name="Group 14"/>
          <p:cNvGrpSpPr/>
          <p:nvPr/>
        </p:nvGrpSpPr>
        <p:grpSpPr>
          <a:xfrm>
            <a:off x="0" y="1104900"/>
            <a:ext cx="8797925" cy="1008062"/>
            <a:chOff x="0" y="0"/>
            <a:chExt cx="8798486" cy="1008003"/>
          </a:xfrm>
        </p:grpSpPr>
        <p:grpSp>
          <p:nvGrpSpPr>
            <p:cNvPr id="30" name="Group 15"/>
            <p:cNvGrpSpPr/>
            <p:nvPr/>
          </p:nvGrpSpPr>
          <p:grpSpPr>
            <a:xfrm>
              <a:off x="0" y="0"/>
              <a:ext cx="8798486" cy="1008003"/>
              <a:chOff x="0" y="0"/>
              <a:chExt cx="8798486" cy="1008003"/>
            </a:xfrm>
          </p:grpSpPr>
          <p:sp>
            <p:nvSpPr>
              <p:cNvPr id="1048587" name="矩形 393"/>
              <p:cNvSpPr/>
              <p:nvPr/>
            </p:nvSpPr>
            <p:spPr>
              <a:xfrm>
                <a:off x="0" y="3"/>
                <a:ext cx="7790485" cy="1008000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588" name="直角三角形 389"/>
              <p:cNvSpPr/>
              <p:nvPr/>
            </p:nvSpPr>
            <p:spPr>
              <a:xfrm>
                <a:off x="7790486" y="0"/>
                <a:ext cx="1008000" cy="1008000"/>
              </a:xfrm>
              <a:prstGeom prst="rtTriangle">
                <a:avLst/>
              </a:prstGeom>
              <a:solidFill>
                <a:srgbClr val="111E35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1048589" name="矩形 391"/>
            <p:cNvSpPr/>
            <p:nvPr/>
          </p:nvSpPr>
          <p:spPr>
            <a:xfrm>
              <a:off x="560161" y="180852"/>
              <a:ext cx="8057395" cy="62480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US" sz="3600" dirty="0" err="1">
                  <a:solidFill>
                    <a:schemeClr val="bg1"/>
                  </a:solidFill>
                </a:rPr>
                <a:t>Blinkit</a:t>
              </a:r>
              <a:r>
                <a:rPr lang="en-US" sz="3600" dirty="0">
                  <a:solidFill>
                    <a:schemeClr val="bg1"/>
                  </a:solidFill>
                </a:rPr>
                <a:t> Business Performance Analysis</a:t>
              </a:r>
              <a:endParaRPr lang="zh-CN" altLang="en-US" sz="3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1" name="Group 16"/>
          <p:cNvGrpSpPr/>
          <p:nvPr/>
        </p:nvGrpSpPr>
        <p:grpSpPr>
          <a:xfrm>
            <a:off x="735012" y="2112962"/>
            <a:ext cx="8408988" cy="574675"/>
            <a:chOff x="0" y="0"/>
            <a:chExt cx="8409514" cy="576002"/>
          </a:xfrm>
        </p:grpSpPr>
        <p:grpSp>
          <p:nvGrpSpPr>
            <p:cNvPr id="32" name="Group 17"/>
            <p:cNvGrpSpPr/>
            <p:nvPr/>
          </p:nvGrpSpPr>
          <p:grpSpPr>
            <a:xfrm>
              <a:off x="0" y="0"/>
              <a:ext cx="8409514" cy="576002"/>
              <a:chOff x="0" y="0"/>
              <a:chExt cx="8409514" cy="576002"/>
            </a:xfrm>
          </p:grpSpPr>
          <p:sp>
            <p:nvSpPr>
              <p:cNvPr id="1048590" name="直角三角形 399"/>
              <p:cNvSpPr/>
              <p:nvPr/>
            </p:nvSpPr>
            <p:spPr>
              <a:xfrm rot="16200000" flipH="1">
                <a:off x="0" y="0"/>
                <a:ext cx="576000" cy="576000"/>
              </a:xfrm>
              <a:prstGeom prst="rtTriangle">
                <a:avLst/>
              </a:prstGeom>
              <a:solidFill>
                <a:srgbClr val="D09E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591" name="矩形 398"/>
              <p:cNvSpPr/>
              <p:nvPr/>
            </p:nvSpPr>
            <p:spPr>
              <a:xfrm flipH="1">
                <a:off x="576000" y="2"/>
                <a:ext cx="7833514" cy="5760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1048592" name="矩形 402"/>
            <p:cNvSpPr/>
            <p:nvPr/>
          </p:nvSpPr>
          <p:spPr>
            <a:xfrm>
              <a:off x="552186" y="65278"/>
              <a:ext cx="6469785" cy="39715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US" sz="2000" dirty="0"/>
                <a:t>A SQL-Based Project on 3.85 Million Retail Transactions</a:t>
              </a:r>
              <a:endParaRPr lang="en-US" altLang="zh-CN" sz="2000" dirty="0">
                <a:solidFill>
                  <a:srgbClr val="7F6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48593" name="矩形 406"/>
          <p:cNvSpPr/>
          <p:nvPr/>
        </p:nvSpPr>
        <p:spPr>
          <a:xfrm>
            <a:off x="1404937" y="4125912"/>
            <a:ext cx="2608580" cy="3962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/>
            <a:r>
              <a:rPr lang="en-US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Team Name :- Vertex</a:t>
            </a:r>
          </a:p>
        </p:txBody>
      </p:sp>
      <p:sp>
        <p:nvSpPr>
          <p:cNvPr id="1048594" name="AutoShape 4" descr="Blinkit business performance analysis logo"/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46"/>
          <p:cNvGrpSpPr/>
          <p:nvPr/>
        </p:nvGrpSpPr>
        <p:grpSpPr>
          <a:xfrm>
            <a:off x="514350" y="1079500"/>
            <a:ext cx="3790950" cy="990600"/>
            <a:chOff x="0" y="0"/>
            <a:chExt cx="3792131" cy="989477"/>
          </a:xfrm>
        </p:grpSpPr>
        <p:grpSp>
          <p:nvGrpSpPr>
            <p:cNvPr id="41" name="Group 47"/>
            <p:cNvGrpSpPr/>
            <p:nvPr/>
          </p:nvGrpSpPr>
          <p:grpSpPr>
            <a:xfrm>
              <a:off x="552131" y="200619"/>
              <a:ext cx="3240000" cy="788858"/>
              <a:chOff x="0" y="0"/>
              <a:chExt cx="3240000" cy="788858"/>
            </a:xfrm>
          </p:grpSpPr>
          <p:grpSp>
            <p:nvGrpSpPr>
              <p:cNvPr id="42" name="Group 48"/>
              <p:cNvGrpSpPr/>
              <p:nvPr/>
            </p:nvGrpSpPr>
            <p:grpSpPr>
              <a:xfrm flipV="1">
                <a:off x="0" y="68857"/>
                <a:ext cx="3240000" cy="432000"/>
                <a:chOff x="0" y="0"/>
                <a:chExt cx="5525400" cy="736719"/>
              </a:xfrm>
            </p:grpSpPr>
            <p:sp>
              <p:nvSpPr>
                <p:cNvPr id="1048608" name="矩形 2"/>
                <p:cNvSpPr/>
                <p:nvPr/>
              </p:nvSpPr>
              <p:spPr>
                <a:xfrm flipV="1">
                  <a:off x="0" y="845"/>
                  <a:ext cx="4788673" cy="732121"/>
                </a:xfrm>
                <a:prstGeom prst="rect">
                  <a:avLst/>
                </a:prstGeom>
                <a:solidFill>
                  <a:srgbClr val="203864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09" name="直角三角形 3"/>
                <p:cNvSpPr/>
                <p:nvPr/>
              </p:nvSpPr>
              <p:spPr>
                <a:xfrm flipV="1">
                  <a:off x="4788680" y="0"/>
                  <a:ext cx="736720" cy="736719"/>
                </a:xfrm>
                <a:prstGeom prst="rtTriangle">
                  <a:avLst/>
                </a:prstGeom>
                <a:solidFill>
                  <a:srgbClr val="111E35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3" name="Group 49"/>
              <p:cNvGrpSpPr/>
              <p:nvPr/>
            </p:nvGrpSpPr>
            <p:grpSpPr>
              <a:xfrm>
                <a:off x="0" y="0"/>
                <a:ext cx="3240000" cy="788858"/>
                <a:chOff x="0" y="0"/>
                <a:chExt cx="3240000" cy="788858"/>
              </a:xfrm>
            </p:grpSpPr>
            <p:sp>
              <p:nvSpPr>
                <p:cNvPr id="1048610" name="直角三角形 5"/>
                <p:cNvSpPr/>
                <p:nvPr/>
              </p:nvSpPr>
              <p:spPr>
                <a:xfrm rot="5400000" flipV="1">
                  <a:off x="0" y="500858"/>
                  <a:ext cx="288000" cy="288000"/>
                </a:xfrm>
                <a:prstGeom prst="rtTriangle">
                  <a:avLst/>
                </a:prstGeom>
                <a:solidFill>
                  <a:srgbClr val="D09E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11" name="矩形 6"/>
                <p:cNvSpPr/>
                <p:nvPr/>
              </p:nvSpPr>
              <p:spPr>
                <a:xfrm flipH="1">
                  <a:off x="284400" y="501219"/>
                  <a:ext cx="2955600" cy="2844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12" name="矩形 13"/>
                <p:cNvSpPr/>
                <p:nvPr/>
              </p:nvSpPr>
              <p:spPr>
                <a:xfrm flipH="1">
                  <a:off x="1801" y="0"/>
                  <a:ext cx="284398" cy="72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1048613" name="矩形 1"/>
            <p:cNvSpPr/>
            <p:nvPr/>
          </p:nvSpPr>
          <p:spPr>
            <a:xfrm>
              <a:off x="590230" y="331589"/>
              <a:ext cx="1974194" cy="35773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IN" sz="1800" dirty="0">
                  <a:solidFill>
                    <a:schemeClr val="bg1"/>
                  </a:solidFill>
                </a:rPr>
                <a:t>Dataset Statistics</a:t>
              </a:r>
              <a:endPara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48614" name="文本框 16"/>
            <p:cNvSpPr txBox="1"/>
            <p:nvPr/>
          </p:nvSpPr>
          <p:spPr>
            <a:xfrm>
              <a:off x="0" y="0"/>
              <a:ext cx="564056" cy="89053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US" altLang="zh-CN" sz="5400">
                  <a:solidFill>
                    <a:srgbClr val="A6A6A6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44" name="Group 50"/>
          <p:cNvGrpSpPr/>
          <p:nvPr/>
        </p:nvGrpSpPr>
        <p:grpSpPr>
          <a:xfrm>
            <a:off x="0" y="0"/>
            <a:ext cx="9144000" cy="711200"/>
            <a:chOff x="0" y="0"/>
            <a:chExt cx="9144001" cy="711548"/>
          </a:xfrm>
        </p:grpSpPr>
        <p:grpSp>
          <p:nvGrpSpPr>
            <p:cNvPr id="45" name="Group 51"/>
            <p:cNvGrpSpPr/>
            <p:nvPr/>
          </p:nvGrpSpPr>
          <p:grpSpPr>
            <a:xfrm>
              <a:off x="0" y="0"/>
              <a:ext cx="9144001" cy="711548"/>
              <a:chOff x="0" y="0"/>
              <a:chExt cx="9144001" cy="711548"/>
            </a:xfrm>
          </p:grpSpPr>
          <p:sp>
            <p:nvSpPr>
              <p:cNvPr id="1048615" name="矩形 178"/>
              <p:cNvSpPr/>
              <p:nvPr/>
            </p:nvSpPr>
            <p:spPr>
              <a:xfrm flipH="1">
                <a:off x="0" y="133902"/>
                <a:ext cx="9144001" cy="1440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grpSp>
            <p:nvGrpSpPr>
              <p:cNvPr id="46" name="Group 52"/>
              <p:cNvGrpSpPr/>
              <p:nvPr/>
            </p:nvGrpSpPr>
            <p:grpSpPr>
              <a:xfrm flipV="1">
                <a:off x="2896975" y="0"/>
                <a:ext cx="3384000" cy="711548"/>
                <a:chOff x="0" y="0"/>
                <a:chExt cx="5770972" cy="1324512"/>
              </a:xfrm>
            </p:grpSpPr>
            <p:sp>
              <p:nvSpPr>
                <p:cNvPr id="1048616" name="矩形 175"/>
                <p:cNvSpPr/>
                <p:nvPr/>
              </p:nvSpPr>
              <p:spPr>
                <a:xfrm flipV="1">
                  <a:off x="736720" y="0"/>
                  <a:ext cx="4297533" cy="804146"/>
                </a:xfrm>
                <a:prstGeom prst="rect">
                  <a:avLst/>
                </a:prstGeom>
                <a:solidFill>
                  <a:srgbClr val="203864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17" name="直角三角形 176"/>
                <p:cNvSpPr/>
                <p:nvPr/>
              </p:nvSpPr>
              <p:spPr>
                <a:xfrm>
                  <a:off x="5034252" y="0"/>
                  <a:ext cx="736720" cy="804146"/>
                </a:xfrm>
                <a:prstGeom prst="rtTriangle">
                  <a:avLst/>
                </a:prstGeom>
                <a:solidFill>
                  <a:srgbClr val="111E35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18" name="矩形 177"/>
                <p:cNvSpPr/>
                <p:nvPr/>
              </p:nvSpPr>
              <p:spPr>
                <a:xfrm flipV="1">
                  <a:off x="5034252" y="1076858"/>
                  <a:ext cx="736720" cy="247653"/>
                </a:xfrm>
                <a:prstGeom prst="rect">
                  <a:avLst/>
                </a:prstGeom>
                <a:solidFill>
                  <a:srgbClr val="203864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19" name="直角三角形 179"/>
                <p:cNvSpPr/>
                <p:nvPr/>
              </p:nvSpPr>
              <p:spPr>
                <a:xfrm flipH="1">
                  <a:off x="0" y="0"/>
                  <a:ext cx="736720" cy="804146"/>
                </a:xfrm>
                <a:prstGeom prst="rtTriangle">
                  <a:avLst/>
                </a:prstGeom>
                <a:solidFill>
                  <a:srgbClr val="111E35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20" name="矩形 180"/>
                <p:cNvSpPr/>
                <p:nvPr/>
              </p:nvSpPr>
              <p:spPr>
                <a:xfrm flipV="1">
                  <a:off x="0" y="805744"/>
                  <a:ext cx="736720" cy="518768"/>
                </a:xfrm>
                <a:prstGeom prst="rect">
                  <a:avLst/>
                </a:prstGeom>
                <a:solidFill>
                  <a:srgbClr val="203864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1048621" name="矩形 182"/>
            <p:cNvSpPr/>
            <p:nvPr/>
          </p:nvSpPr>
          <p:spPr>
            <a:xfrm>
              <a:off x="3946651" y="326271"/>
              <a:ext cx="1224281" cy="332904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US" altLang="zh-CN" sz="160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</a:rPr>
                <a:t>CONTENTS</a:t>
              </a:r>
            </a:p>
          </p:txBody>
        </p:sp>
      </p:grpSp>
      <p:grpSp>
        <p:nvGrpSpPr>
          <p:cNvPr id="47" name="Group 53"/>
          <p:cNvGrpSpPr/>
          <p:nvPr/>
        </p:nvGrpSpPr>
        <p:grpSpPr>
          <a:xfrm>
            <a:off x="514350" y="2298700"/>
            <a:ext cx="3790950" cy="990600"/>
            <a:chOff x="0" y="0"/>
            <a:chExt cx="3792131" cy="989477"/>
          </a:xfrm>
        </p:grpSpPr>
        <p:grpSp>
          <p:nvGrpSpPr>
            <p:cNvPr id="48" name="Group 54"/>
            <p:cNvGrpSpPr/>
            <p:nvPr/>
          </p:nvGrpSpPr>
          <p:grpSpPr>
            <a:xfrm>
              <a:off x="552131" y="200619"/>
              <a:ext cx="3240000" cy="788858"/>
              <a:chOff x="0" y="0"/>
              <a:chExt cx="3240000" cy="788858"/>
            </a:xfrm>
          </p:grpSpPr>
          <p:grpSp>
            <p:nvGrpSpPr>
              <p:cNvPr id="49" name="Group 55"/>
              <p:cNvGrpSpPr/>
              <p:nvPr/>
            </p:nvGrpSpPr>
            <p:grpSpPr>
              <a:xfrm flipV="1">
                <a:off x="0" y="68857"/>
                <a:ext cx="3240000" cy="432000"/>
                <a:chOff x="0" y="0"/>
                <a:chExt cx="5525400" cy="736719"/>
              </a:xfrm>
            </p:grpSpPr>
            <p:sp>
              <p:nvSpPr>
                <p:cNvPr id="1048622" name="矩形 105"/>
                <p:cNvSpPr/>
                <p:nvPr/>
              </p:nvSpPr>
              <p:spPr>
                <a:xfrm flipV="1">
                  <a:off x="0" y="845"/>
                  <a:ext cx="4788673" cy="732121"/>
                </a:xfrm>
                <a:prstGeom prst="rect">
                  <a:avLst/>
                </a:prstGeom>
                <a:solidFill>
                  <a:srgbClr val="203864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23" name="直角三角形 106"/>
                <p:cNvSpPr/>
                <p:nvPr/>
              </p:nvSpPr>
              <p:spPr>
                <a:xfrm flipV="1">
                  <a:off x="4788680" y="0"/>
                  <a:ext cx="736720" cy="736719"/>
                </a:xfrm>
                <a:prstGeom prst="rtTriangle">
                  <a:avLst/>
                </a:prstGeom>
                <a:solidFill>
                  <a:srgbClr val="111E35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50" name="Group 56"/>
              <p:cNvGrpSpPr/>
              <p:nvPr/>
            </p:nvGrpSpPr>
            <p:grpSpPr>
              <a:xfrm>
                <a:off x="0" y="0"/>
                <a:ext cx="3240000" cy="788858"/>
                <a:chOff x="0" y="0"/>
                <a:chExt cx="3240000" cy="788858"/>
              </a:xfrm>
            </p:grpSpPr>
            <p:sp>
              <p:nvSpPr>
                <p:cNvPr id="1048624" name="直角三角形 102"/>
                <p:cNvSpPr/>
                <p:nvPr/>
              </p:nvSpPr>
              <p:spPr>
                <a:xfrm rot="5400000" flipV="1">
                  <a:off x="0" y="500858"/>
                  <a:ext cx="288000" cy="288000"/>
                </a:xfrm>
                <a:prstGeom prst="rtTriangle">
                  <a:avLst/>
                </a:prstGeom>
                <a:solidFill>
                  <a:srgbClr val="D09E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25" name="矩形 103"/>
                <p:cNvSpPr/>
                <p:nvPr/>
              </p:nvSpPr>
              <p:spPr>
                <a:xfrm flipH="1">
                  <a:off x="284400" y="501219"/>
                  <a:ext cx="2955600" cy="2844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26" name="矩形 104"/>
                <p:cNvSpPr/>
                <p:nvPr/>
              </p:nvSpPr>
              <p:spPr>
                <a:xfrm flipH="1">
                  <a:off x="1801" y="0"/>
                  <a:ext cx="284398" cy="72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1048627" name="矩形 107"/>
            <p:cNvSpPr/>
            <p:nvPr/>
          </p:nvSpPr>
          <p:spPr>
            <a:xfrm>
              <a:off x="590230" y="331589"/>
              <a:ext cx="1707412" cy="294307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IN" altLang="zh-CN" sz="1400" dirty="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</a:rPr>
                <a:t>Problem Statement</a:t>
              </a:r>
              <a:endParaRPr lang="zh-CN" altLang="en-US" sz="1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48628" name="文本框 109"/>
            <p:cNvSpPr txBox="1"/>
            <p:nvPr/>
          </p:nvSpPr>
          <p:spPr>
            <a:xfrm>
              <a:off x="0" y="0"/>
              <a:ext cx="564056" cy="89053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US" altLang="zh-CN" sz="5400">
                  <a:solidFill>
                    <a:srgbClr val="A6A6A6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51" name="Group 57"/>
          <p:cNvGrpSpPr/>
          <p:nvPr/>
        </p:nvGrpSpPr>
        <p:grpSpPr>
          <a:xfrm>
            <a:off x="519112" y="3517900"/>
            <a:ext cx="3792537" cy="990600"/>
            <a:chOff x="0" y="0"/>
            <a:chExt cx="3792131" cy="989477"/>
          </a:xfrm>
        </p:grpSpPr>
        <p:grpSp>
          <p:nvGrpSpPr>
            <p:cNvPr id="52" name="Group 58"/>
            <p:cNvGrpSpPr/>
            <p:nvPr/>
          </p:nvGrpSpPr>
          <p:grpSpPr>
            <a:xfrm>
              <a:off x="552131" y="200619"/>
              <a:ext cx="3240000" cy="788858"/>
              <a:chOff x="0" y="0"/>
              <a:chExt cx="3240000" cy="788858"/>
            </a:xfrm>
          </p:grpSpPr>
          <p:grpSp>
            <p:nvGrpSpPr>
              <p:cNvPr id="53" name="Group 59"/>
              <p:cNvGrpSpPr/>
              <p:nvPr/>
            </p:nvGrpSpPr>
            <p:grpSpPr>
              <a:xfrm flipV="1">
                <a:off x="0" y="68857"/>
                <a:ext cx="3240000" cy="432000"/>
                <a:chOff x="0" y="0"/>
                <a:chExt cx="5525400" cy="736719"/>
              </a:xfrm>
            </p:grpSpPr>
            <p:sp>
              <p:nvSpPr>
                <p:cNvPr id="1048629" name="矩形 116"/>
                <p:cNvSpPr/>
                <p:nvPr/>
              </p:nvSpPr>
              <p:spPr>
                <a:xfrm flipV="1">
                  <a:off x="0" y="845"/>
                  <a:ext cx="4788673" cy="732121"/>
                </a:xfrm>
                <a:prstGeom prst="rect">
                  <a:avLst/>
                </a:prstGeom>
                <a:solidFill>
                  <a:srgbClr val="203864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30" name="直角三角形 117"/>
                <p:cNvSpPr/>
                <p:nvPr/>
              </p:nvSpPr>
              <p:spPr>
                <a:xfrm flipV="1">
                  <a:off x="4788680" y="0"/>
                  <a:ext cx="736720" cy="736719"/>
                </a:xfrm>
                <a:prstGeom prst="rtTriangle">
                  <a:avLst/>
                </a:prstGeom>
                <a:solidFill>
                  <a:srgbClr val="111E35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54" name="Group 60"/>
              <p:cNvGrpSpPr/>
              <p:nvPr/>
            </p:nvGrpSpPr>
            <p:grpSpPr>
              <a:xfrm>
                <a:off x="0" y="0"/>
                <a:ext cx="3240000" cy="788858"/>
                <a:chOff x="0" y="0"/>
                <a:chExt cx="3240000" cy="788858"/>
              </a:xfrm>
            </p:grpSpPr>
            <p:sp>
              <p:nvSpPr>
                <p:cNvPr id="1048631" name="直角三角形 113"/>
                <p:cNvSpPr/>
                <p:nvPr/>
              </p:nvSpPr>
              <p:spPr>
                <a:xfrm rot="5400000" flipV="1">
                  <a:off x="0" y="500858"/>
                  <a:ext cx="288000" cy="288000"/>
                </a:xfrm>
                <a:prstGeom prst="rtTriangle">
                  <a:avLst/>
                </a:prstGeom>
                <a:solidFill>
                  <a:srgbClr val="D09E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32" name="矩形 114"/>
                <p:cNvSpPr/>
                <p:nvPr/>
              </p:nvSpPr>
              <p:spPr>
                <a:xfrm flipH="1">
                  <a:off x="284400" y="501219"/>
                  <a:ext cx="2955600" cy="2844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33" name="矩形 115"/>
                <p:cNvSpPr/>
                <p:nvPr/>
              </p:nvSpPr>
              <p:spPr>
                <a:xfrm flipH="1">
                  <a:off x="1801" y="0"/>
                  <a:ext cx="284398" cy="72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1048634" name="矩形 118"/>
            <p:cNvSpPr/>
            <p:nvPr/>
          </p:nvSpPr>
          <p:spPr>
            <a:xfrm>
              <a:off x="590230" y="331589"/>
              <a:ext cx="2252739" cy="294307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IN" altLang="zh-CN" sz="1400" dirty="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</a:rPr>
                <a:t>Expected Business Impact</a:t>
              </a:r>
              <a:endParaRPr lang="zh-CN" altLang="en-US" sz="1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48635" name="文本框 120"/>
            <p:cNvSpPr txBox="1"/>
            <p:nvPr/>
          </p:nvSpPr>
          <p:spPr>
            <a:xfrm>
              <a:off x="0" y="0"/>
              <a:ext cx="563820" cy="89053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US" altLang="zh-CN" sz="5400">
                  <a:solidFill>
                    <a:srgbClr val="A6A6A6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55" name="Group 61"/>
          <p:cNvGrpSpPr/>
          <p:nvPr/>
        </p:nvGrpSpPr>
        <p:grpSpPr>
          <a:xfrm>
            <a:off x="4699000" y="1076325"/>
            <a:ext cx="3790950" cy="990600"/>
            <a:chOff x="0" y="0"/>
            <a:chExt cx="3792131" cy="989477"/>
          </a:xfrm>
        </p:grpSpPr>
        <p:grpSp>
          <p:nvGrpSpPr>
            <p:cNvPr id="56" name="Group 62"/>
            <p:cNvGrpSpPr/>
            <p:nvPr/>
          </p:nvGrpSpPr>
          <p:grpSpPr>
            <a:xfrm>
              <a:off x="552131" y="200619"/>
              <a:ext cx="3240000" cy="788858"/>
              <a:chOff x="0" y="0"/>
              <a:chExt cx="3240000" cy="788858"/>
            </a:xfrm>
          </p:grpSpPr>
          <p:grpSp>
            <p:nvGrpSpPr>
              <p:cNvPr id="57" name="Group 63"/>
              <p:cNvGrpSpPr/>
              <p:nvPr/>
            </p:nvGrpSpPr>
            <p:grpSpPr>
              <a:xfrm flipV="1">
                <a:off x="0" y="68857"/>
                <a:ext cx="3240000" cy="432000"/>
                <a:chOff x="0" y="0"/>
                <a:chExt cx="5525400" cy="736719"/>
              </a:xfrm>
            </p:grpSpPr>
            <p:sp>
              <p:nvSpPr>
                <p:cNvPr id="1048636" name="矩形 127"/>
                <p:cNvSpPr/>
                <p:nvPr/>
              </p:nvSpPr>
              <p:spPr>
                <a:xfrm flipV="1">
                  <a:off x="0" y="845"/>
                  <a:ext cx="4788673" cy="732121"/>
                </a:xfrm>
                <a:prstGeom prst="rect">
                  <a:avLst/>
                </a:prstGeom>
                <a:solidFill>
                  <a:srgbClr val="203864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37" name="直角三角形 128"/>
                <p:cNvSpPr/>
                <p:nvPr/>
              </p:nvSpPr>
              <p:spPr>
                <a:xfrm flipV="1">
                  <a:off x="4788680" y="0"/>
                  <a:ext cx="736720" cy="736719"/>
                </a:xfrm>
                <a:prstGeom prst="rtTriangle">
                  <a:avLst/>
                </a:prstGeom>
                <a:solidFill>
                  <a:srgbClr val="111E35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58" name="Group 64"/>
              <p:cNvGrpSpPr/>
              <p:nvPr/>
            </p:nvGrpSpPr>
            <p:grpSpPr>
              <a:xfrm>
                <a:off x="0" y="0"/>
                <a:ext cx="3240000" cy="788858"/>
                <a:chOff x="0" y="0"/>
                <a:chExt cx="3240000" cy="788858"/>
              </a:xfrm>
            </p:grpSpPr>
            <p:sp>
              <p:nvSpPr>
                <p:cNvPr id="1048638" name="直角三角形 124"/>
                <p:cNvSpPr/>
                <p:nvPr/>
              </p:nvSpPr>
              <p:spPr>
                <a:xfrm rot="5400000" flipV="1">
                  <a:off x="0" y="500858"/>
                  <a:ext cx="288000" cy="288000"/>
                </a:xfrm>
                <a:prstGeom prst="rtTriangle">
                  <a:avLst/>
                </a:prstGeom>
                <a:solidFill>
                  <a:srgbClr val="D09E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39" name="矩形 125"/>
                <p:cNvSpPr/>
                <p:nvPr/>
              </p:nvSpPr>
              <p:spPr>
                <a:xfrm flipH="1">
                  <a:off x="284400" y="501219"/>
                  <a:ext cx="2955600" cy="2844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40" name="矩形 126"/>
                <p:cNvSpPr/>
                <p:nvPr/>
              </p:nvSpPr>
              <p:spPr>
                <a:xfrm flipH="1">
                  <a:off x="1801" y="0"/>
                  <a:ext cx="284398" cy="72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1048641" name="矩形 129"/>
            <p:cNvSpPr/>
            <p:nvPr/>
          </p:nvSpPr>
          <p:spPr>
            <a:xfrm>
              <a:off x="590230" y="331589"/>
              <a:ext cx="1224661" cy="294307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US" altLang="en-IN" sz="140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</a:rPr>
                <a:t>Code Snippet  </a:t>
              </a:r>
              <a:endParaRPr lang="zh-CN" altLang="en-US"/>
            </a:p>
          </p:txBody>
        </p:sp>
        <p:sp>
          <p:nvSpPr>
            <p:cNvPr id="1048643" name="文本框 131"/>
            <p:cNvSpPr txBox="1"/>
            <p:nvPr/>
          </p:nvSpPr>
          <p:spPr>
            <a:xfrm>
              <a:off x="0" y="0"/>
              <a:ext cx="564056" cy="89053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US" altLang="zh-CN" sz="5400">
                  <a:solidFill>
                    <a:srgbClr val="A6A6A6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  <p:grpSp>
        <p:nvGrpSpPr>
          <p:cNvPr id="59" name="Group 65"/>
          <p:cNvGrpSpPr/>
          <p:nvPr/>
        </p:nvGrpSpPr>
        <p:grpSpPr>
          <a:xfrm>
            <a:off x="4699000" y="2295525"/>
            <a:ext cx="3790950" cy="990599"/>
            <a:chOff x="0" y="0"/>
            <a:chExt cx="3792131" cy="989477"/>
          </a:xfrm>
        </p:grpSpPr>
        <p:grpSp>
          <p:nvGrpSpPr>
            <p:cNvPr id="60" name="Group 66"/>
            <p:cNvGrpSpPr/>
            <p:nvPr/>
          </p:nvGrpSpPr>
          <p:grpSpPr>
            <a:xfrm>
              <a:off x="552131" y="200619"/>
              <a:ext cx="3240000" cy="788858"/>
              <a:chOff x="0" y="0"/>
              <a:chExt cx="3240000" cy="788858"/>
            </a:xfrm>
          </p:grpSpPr>
          <p:grpSp>
            <p:nvGrpSpPr>
              <p:cNvPr id="61" name="Group 67"/>
              <p:cNvGrpSpPr/>
              <p:nvPr/>
            </p:nvGrpSpPr>
            <p:grpSpPr>
              <a:xfrm flipV="1">
                <a:off x="0" y="68857"/>
                <a:ext cx="3240000" cy="432000"/>
                <a:chOff x="0" y="0"/>
                <a:chExt cx="5525400" cy="736719"/>
              </a:xfrm>
            </p:grpSpPr>
            <p:sp>
              <p:nvSpPr>
                <p:cNvPr id="1048644" name="矩形 149"/>
                <p:cNvSpPr/>
                <p:nvPr/>
              </p:nvSpPr>
              <p:spPr>
                <a:xfrm flipV="1">
                  <a:off x="0" y="845"/>
                  <a:ext cx="4788673" cy="732121"/>
                </a:xfrm>
                <a:prstGeom prst="rect">
                  <a:avLst/>
                </a:prstGeom>
                <a:solidFill>
                  <a:srgbClr val="203864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45" name="直角三角形 161"/>
                <p:cNvSpPr/>
                <p:nvPr/>
              </p:nvSpPr>
              <p:spPr>
                <a:xfrm flipV="1">
                  <a:off x="4788680" y="0"/>
                  <a:ext cx="736720" cy="736719"/>
                </a:xfrm>
                <a:prstGeom prst="rtTriangle">
                  <a:avLst/>
                </a:prstGeom>
                <a:solidFill>
                  <a:srgbClr val="111E35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62" name="Group 68"/>
              <p:cNvGrpSpPr/>
              <p:nvPr/>
            </p:nvGrpSpPr>
            <p:grpSpPr>
              <a:xfrm>
                <a:off x="0" y="0"/>
                <a:ext cx="3240000" cy="788858"/>
                <a:chOff x="0" y="0"/>
                <a:chExt cx="3240000" cy="788858"/>
              </a:xfrm>
            </p:grpSpPr>
            <p:sp>
              <p:nvSpPr>
                <p:cNvPr id="1048646" name="直角三角形 135"/>
                <p:cNvSpPr/>
                <p:nvPr/>
              </p:nvSpPr>
              <p:spPr>
                <a:xfrm rot="5400000" flipV="1">
                  <a:off x="0" y="500858"/>
                  <a:ext cx="288000" cy="288000"/>
                </a:xfrm>
                <a:prstGeom prst="rtTriangle">
                  <a:avLst/>
                </a:prstGeom>
                <a:solidFill>
                  <a:srgbClr val="D09E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47" name="矩形 136"/>
                <p:cNvSpPr/>
                <p:nvPr/>
              </p:nvSpPr>
              <p:spPr>
                <a:xfrm flipH="1">
                  <a:off x="284400" y="501219"/>
                  <a:ext cx="2955600" cy="2844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48" name="矩形 137"/>
                <p:cNvSpPr/>
                <p:nvPr/>
              </p:nvSpPr>
              <p:spPr>
                <a:xfrm flipH="1">
                  <a:off x="1801" y="0"/>
                  <a:ext cx="284398" cy="72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1048649" name="矩形 173"/>
            <p:cNvSpPr/>
            <p:nvPr/>
          </p:nvSpPr>
          <p:spPr>
            <a:xfrm>
              <a:off x="590230" y="331589"/>
              <a:ext cx="1148439" cy="294307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US" altLang="en-IN" sz="140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</a:rPr>
                <a:t>Our Insights</a:t>
              </a:r>
              <a:endParaRPr lang="zh-CN" altLang="en-US"/>
            </a:p>
          </p:txBody>
        </p:sp>
        <p:sp>
          <p:nvSpPr>
            <p:cNvPr id="1048651" name="文本框 184"/>
            <p:cNvSpPr txBox="1"/>
            <p:nvPr/>
          </p:nvSpPr>
          <p:spPr>
            <a:xfrm>
              <a:off x="0" y="0"/>
              <a:ext cx="564056" cy="89053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US" altLang="zh-CN" sz="5400">
                  <a:solidFill>
                    <a:srgbClr val="A6A6A6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</a:p>
          </p:txBody>
        </p:sp>
      </p:grpSp>
      <p:grpSp>
        <p:nvGrpSpPr>
          <p:cNvPr id="63" name="Group 69"/>
          <p:cNvGrpSpPr/>
          <p:nvPr/>
        </p:nvGrpSpPr>
        <p:grpSpPr>
          <a:xfrm>
            <a:off x="4703762" y="3514725"/>
            <a:ext cx="3792537" cy="990600"/>
            <a:chOff x="0" y="0"/>
            <a:chExt cx="3792131" cy="989477"/>
          </a:xfrm>
        </p:grpSpPr>
        <p:grpSp>
          <p:nvGrpSpPr>
            <p:cNvPr id="64" name="Group 70"/>
            <p:cNvGrpSpPr/>
            <p:nvPr/>
          </p:nvGrpSpPr>
          <p:grpSpPr>
            <a:xfrm>
              <a:off x="552131" y="200619"/>
              <a:ext cx="3240000" cy="788858"/>
              <a:chOff x="0" y="0"/>
              <a:chExt cx="3240000" cy="788858"/>
            </a:xfrm>
          </p:grpSpPr>
          <p:grpSp>
            <p:nvGrpSpPr>
              <p:cNvPr id="65" name="Group 71"/>
              <p:cNvGrpSpPr/>
              <p:nvPr/>
            </p:nvGrpSpPr>
            <p:grpSpPr>
              <a:xfrm flipV="1">
                <a:off x="0" y="68857"/>
                <a:ext cx="3240000" cy="432000"/>
                <a:chOff x="0" y="0"/>
                <a:chExt cx="5525400" cy="736719"/>
              </a:xfrm>
            </p:grpSpPr>
            <p:sp>
              <p:nvSpPr>
                <p:cNvPr id="1048652" name="矩形 191"/>
                <p:cNvSpPr/>
                <p:nvPr/>
              </p:nvSpPr>
              <p:spPr>
                <a:xfrm flipV="1">
                  <a:off x="0" y="845"/>
                  <a:ext cx="4788673" cy="732121"/>
                </a:xfrm>
                <a:prstGeom prst="rect">
                  <a:avLst/>
                </a:prstGeom>
                <a:solidFill>
                  <a:srgbClr val="203864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53" name="直角三角形 192"/>
                <p:cNvSpPr/>
                <p:nvPr/>
              </p:nvSpPr>
              <p:spPr>
                <a:xfrm flipV="1">
                  <a:off x="4788680" y="0"/>
                  <a:ext cx="736720" cy="736719"/>
                </a:xfrm>
                <a:prstGeom prst="rtTriangle">
                  <a:avLst/>
                </a:prstGeom>
                <a:solidFill>
                  <a:srgbClr val="111E35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66" name="Group 72"/>
              <p:cNvGrpSpPr/>
              <p:nvPr/>
            </p:nvGrpSpPr>
            <p:grpSpPr>
              <a:xfrm>
                <a:off x="0" y="0"/>
                <a:ext cx="3240000" cy="788858"/>
                <a:chOff x="0" y="0"/>
                <a:chExt cx="3240000" cy="788858"/>
              </a:xfrm>
            </p:grpSpPr>
            <p:sp>
              <p:nvSpPr>
                <p:cNvPr id="1048654" name="直角三角形 188"/>
                <p:cNvSpPr/>
                <p:nvPr/>
              </p:nvSpPr>
              <p:spPr>
                <a:xfrm rot="5400000" flipV="1">
                  <a:off x="0" y="500858"/>
                  <a:ext cx="288000" cy="288000"/>
                </a:xfrm>
                <a:prstGeom prst="rtTriangle">
                  <a:avLst/>
                </a:prstGeom>
                <a:solidFill>
                  <a:srgbClr val="D09E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55" name="矩形 189"/>
                <p:cNvSpPr/>
                <p:nvPr/>
              </p:nvSpPr>
              <p:spPr>
                <a:xfrm flipH="1">
                  <a:off x="284400" y="501219"/>
                  <a:ext cx="2955600" cy="2844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  <p:sp>
              <p:nvSpPr>
                <p:cNvPr id="1048656" name="矩形 190"/>
                <p:cNvSpPr/>
                <p:nvPr/>
              </p:nvSpPr>
              <p:spPr>
                <a:xfrm flipH="1">
                  <a:off x="1801" y="0"/>
                  <a:ext cx="284398" cy="72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>
                  <a:lvl1pPr marL="0" indent="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342900" indent="1143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685800" indent="2286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028700" indent="3429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1371600" indent="457200" algn="l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buNone/>
                    <a:defRPr sz="1300" b="0" i="0" u="none" baseline="0">
                      <a:solidFill>
                        <a:schemeClr val="dk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</a:lstStyle>
                <a:p>
                  <a:pPr lvl="0" algn="ctr"/>
                  <a:endParaRPr lang="zh-CN" altLang="en-US">
                    <a:solidFill>
                      <a:srgbClr val="FFFFFF"/>
                    </a:solidFill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1048657" name="矩形 193"/>
            <p:cNvSpPr/>
            <p:nvPr/>
          </p:nvSpPr>
          <p:spPr>
            <a:xfrm>
              <a:off x="590230" y="331589"/>
              <a:ext cx="1935273" cy="294307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US" altLang="en-IN" sz="140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</a:rPr>
                <a:t>Problems Faced By Us</a:t>
              </a:r>
              <a:endParaRPr lang="zh-CN" altLang="en-US"/>
            </a:p>
          </p:txBody>
        </p:sp>
        <p:sp>
          <p:nvSpPr>
            <p:cNvPr id="1048659" name="文本框 195"/>
            <p:cNvSpPr txBox="1"/>
            <p:nvPr/>
          </p:nvSpPr>
          <p:spPr>
            <a:xfrm>
              <a:off x="0" y="0"/>
              <a:ext cx="563820" cy="89053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US" altLang="zh-CN" sz="5400">
                  <a:solidFill>
                    <a:srgbClr val="A6A6A6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平行四边形 89"/>
          <p:cNvSpPr/>
          <p:nvPr/>
        </p:nvSpPr>
        <p:spPr>
          <a:xfrm rot="5400000">
            <a:off x="3405187" y="1182687"/>
            <a:ext cx="1355725" cy="1901825"/>
          </a:xfrm>
          <a:prstGeom prst="parallelogram">
            <a:avLst>
              <a:gd name="adj" fmla="val 62458"/>
            </a:avLst>
          </a:prstGeom>
          <a:solidFill>
            <a:srgbClr val="BFBFBF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1048661" name="平行四边形 90"/>
          <p:cNvSpPr/>
          <p:nvPr/>
        </p:nvSpPr>
        <p:spPr>
          <a:xfrm rot="5400000">
            <a:off x="2881313" y="2028824"/>
            <a:ext cx="1354137" cy="1903412"/>
          </a:xfrm>
          <a:prstGeom prst="parallelogram">
            <a:avLst>
              <a:gd name="adj" fmla="val 62458"/>
            </a:avLst>
          </a:prstGeom>
          <a:solidFill>
            <a:srgbClr val="BFBFBF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1048662" name="平行四边形 91"/>
          <p:cNvSpPr/>
          <p:nvPr/>
        </p:nvSpPr>
        <p:spPr>
          <a:xfrm rot="5400000">
            <a:off x="2351881" y="2872581"/>
            <a:ext cx="1354137" cy="1901825"/>
          </a:xfrm>
          <a:prstGeom prst="parallelogram">
            <a:avLst>
              <a:gd name="adj" fmla="val 62458"/>
            </a:avLst>
          </a:prstGeom>
          <a:solidFill>
            <a:srgbClr val="BFBFBF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1048663" name="平行四边形 2"/>
          <p:cNvSpPr/>
          <p:nvPr/>
        </p:nvSpPr>
        <p:spPr>
          <a:xfrm rot="5400000">
            <a:off x="3932238" y="334962"/>
            <a:ext cx="1354137" cy="1903412"/>
          </a:xfrm>
          <a:prstGeom prst="parallelogram">
            <a:avLst>
              <a:gd name="adj" fmla="val 62458"/>
            </a:avLst>
          </a:prstGeom>
          <a:solidFill>
            <a:srgbClr val="BFBFBF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grpSp>
        <p:nvGrpSpPr>
          <p:cNvPr id="68" name="Group 89"/>
          <p:cNvGrpSpPr/>
          <p:nvPr/>
        </p:nvGrpSpPr>
        <p:grpSpPr>
          <a:xfrm>
            <a:off x="3657600" y="608376"/>
            <a:ext cx="2428875" cy="509224"/>
            <a:chOff x="0" y="-1222"/>
            <a:chExt cx="2428125" cy="508374"/>
          </a:xfrm>
        </p:grpSpPr>
        <p:sp>
          <p:nvSpPr>
            <p:cNvPr id="1048664" name="矩形 46"/>
            <p:cNvSpPr/>
            <p:nvPr/>
          </p:nvSpPr>
          <p:spPr>
            <a:xfrm flipH="1">
              <a:off x="0" y="396700"/>
              <a:ext cx="2427071" cy="1104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665" name="矩形 52"/>
            <p:cNvSpPr/>
            <p:nvPr/>
          </p:nvSpPr>
          <p:spPr>
            <a:xfrm>
              <a:off x="1054" y="0"/>
              <a:ext cx="2427071" cy="396023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666" name="文本框 61"/>
            <p:cNvSpPr txBox="1"/>
            <p:nvPr/>
          </p:nvSpPr>
          <p:spPr>
            <a:xfrm>
              <a:off x="164520" y="-1222"/>
              <a:ext cx="2136233" cy="39944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3.85 M+</a:t>
              </a:r>
            </a:p>
          </p:txBody>
        </p:sp>
      </p:grpSp>
      <p:sp>
        <p:nvSpPr>
          <p:cNvPr id="1048667" name="矩形 69"/>
          <p:cNvSpPr/>
          <p:nvPr/>
        </p:nvSpPr>
        <p:spPr>
          <a:xfrm>
            <a:off x="6012394" y="578486"/>
            <a:ext cx="3357562" cy="3810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lnSpc>
                <a:spcPct val="150000"/>
              </a:lnSpc>
            </a:pPr>
            <a:r>
              <a:rPr lang="en-US" sz="1400" dirty="0"/>
              <a:t>Over </a:t>
            </a:r>
            <a:r>
              <a:rPr lang="en-US" sz="1400" b="1" dirty="0"/>
              <a:t>3.85 million</a:t>
            </a:r>
            <a:r>
              <a:rPr lang="en-US" sz="1400" dirty="0"/>
              <a:t> order records analyzed.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9" name="Group 90"/>
          <p:cNvGrpSpPr/>
          <p:nvPr/>
        </p:nvGrpSpPr>
        <p:grpSpPr>
          <a:xfrm>
            <a:off x="3133725" y="1457325"/>
            <a:ext cx="2427287" cy="506412"/>
            <a:chOff x="0" y="0"/>
            <a:chExt cx="2428125" cy="507152"/>
          </a:xfrm>
        </p:grpSpPr>
        <p:sp>
          <p:nvSpPr>
            <p:cNvPr id="1048668" name="矩形 48"/>
            <p:cNvSpPr/>
            <p:nvPr/>
          </p:nvSpPr>
          <p:spPr>
            <a:xfrm flipH="1">
              <a:off x="0" y="396700"/>
              <a:ext cx="2427071" cy="1104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669" name="矩形 51"/>
            <p:cNvSpPr/>
            <p:nvPr/>
          </p:nvSpPr>
          <p:spPr>
            <a:xfrm>
              <a:off x="1054" y="0"/>
              <a:ext cx="2427071" cy="396023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r>
                <a:rPr lang="en-IN" dirty="0"/>
                <a:t>37</a:t>
              </a: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670" name="文本框 54"/>
            <p:cNvSpPr txBox="1"/>
            <p:nvPr/>
          </p:nvSpPr>
          <p:spPr>
            <a:xfrm>
              <a:off x="145418" y="24279"/>
              <a:ext cx="2136233" cy="36987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r>
                <a:rPr lang="en-US" altLang="zh-CN" sz="1800" dirty="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</a:rPr>
                <a:t>743 k+</a:t>
              </a:r>
            </a:p>
          </p:txBody>
        </p:sp>
      </p:grpSp>
      <p:grpSp>
        <p:nvGrpSpPr>
          <p:cNvPr id="70" name="Group 91"/>
          <p:cNvGrpSpPr/>
          <p:nvPr/>
        </p:nvGrpSpPr>
        <p:grpSpPr>
          <a:xfrm>
            <a:off x="2608262" y="2303462"/>
            <a:ext cx="2428875" cy="508000"/>
            <a:chOff x="0" y="0"/>
            <a:chExt cx="2428125" cy="507152"/>
          </a:xfrm>
        </p:grpSpPr>
        <p:sp>
          <p:nvSpPr>
            <p:cNvPr id="1048671" name="矩形 64"/>
            <p:cNvSpPr/>
            <p:nvPr/>
          </p:nvSpPr>
          <p:spPr>
            <a:xfrm flipH="1">
              <a:off x="0" y="396700"/>
              <a:ext cx="2427071" cy="1104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672" name="矩形 65"/>
            <p:cNvSpPr/>
            <p:nvPr/>
          </p:nvSpPr>
          <p:spPr>
            <a:xfrm>
              <a:off x="1054" y="0"/>
              <a:ext cx="2427071" cy="396023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673" name="文本框 66"/>
            <p:cNvSpPr txBox="1"/>
            <p:nvPr/>
          </p:nvSpPr>
          <p:spPr>
            <a:xfrm>
              <a:off x="145418" y="10149"/>
              <a:ext cx="2136233" cy="39944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r>
                <a:rPr lang="en-US" altLang="zh-CN" sz="2000" dirty="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</a:rPr>
                <a:t>37</a:t>
              </a:r>
            </a:p>
          </p:txBody>
        </p:sp>
      </p:grpSp>
      <p:grpSp>
        <p:nvGrpSpPr>
          <p:cNvPr id="71" name="Group 92"/>
          <p:cNvGrpSpPr/>
          <p:nvPr/>
        </p:nvGrpSpPr>
        <p:grpSpPr>
          <a:xfrm>
            <a:off x="2082800" y="3149600"/>
            <a:ext cx="2428875" cy="508000"/>
            <a:chOff x="0" y="0"/>
            <a:chExt cx="2428125" cy="507152"/>
          </a:xfrm>
        </p:grpSpPr>
        <p:sp>
          <p:nvSpPr>
            <p:cNvPr id="1048674" name="矩形 73"/>
            <p:cNvSpPr/>
            <p:nvPr/>
          </p:nvSpPr>
          <p:spPr>
            <a:xfrm flipH="1">
              <a:off x="0" y="396700"/>
              <a:ext cx="2427071" cy="1104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675" name="矩形 83"/>
            <p:cNvSpPr/>
            <p:nvPr/>
          </p:nvSpPr>
          <p:spPr>
            <a:xfrm>
              <a:off x="1054" y="0"/>
              <a:ext cx="2427071" cy="396023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676" name="文本框 84"/>
            <p:cNvSpPr txBox="1"/>
            <p:nvPr/>
          </p:nvSpPr>
          <p:spPr>
            <a:xfrm>
              <a:off x="145418" y="10149"/>
              <a:ext cx="2136233" cy="39944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r>
                <a:rPr lang="en-US" altLang="zh-CN" sz="2000" dirty="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</a:rPr>
                <a:t>5 Yrs</a:t>
              </a:r>
            </a:p>
          </p:txBody>
        </p:sp>
      </p:grpSp>
      <p:grpSp>
        <p:nvGrpSpPr>
          <p:cNvPr id="72" name="Group 93"/>
          <p:cNvGrpSpPr/>
          <p:nvPr/>
        </p:nvGrpSpPr>
        <p:grpSpPr>
          <a:xfrm>
            <a:off x="1558925" y="3997325"/>
            <a:ext cx="2427287" cy="506412"/>
            <a:chOff x="0" y="0"/>
            <a:chExt cx="2428125" cy="507152"/>
          </a:xfrm>
        </p:grpSpPr>
        <p:sp>
          <p:nvSpPr>
            <p:cNvPr id="1048677" name="矩形 86"/>
            <p:cNvSpPr/>
            <p:nvPr/>
          </p:nvSpPr>
          <p:spPr>
            <a:xfrm flipH="1">
              <a:off x="0" y="396700"/>
              <a:ext cx="2427071" cy="1104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678" name="矩形 87"/>
            <p:cNvSpPr/>
            <p:nvPr/>
          </p:nvSpPr>
          <p:spPr>
            <a:xfrm>
              <a:off x="1054" y="0"/>
              <a:ext cx="2427071" cy="396023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679" name="文本框 88"/>
            <p:cNvSpPr txBox="1"/>
            <p:nvPr/>
          </p:nvSpPr>
          <p:spPr>
            <a:xfrm>
              <a:off x="145418" y="9971"/>
              <a:ext cx="2136233" cy="40069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r>
                <a:rPr lang="en-US" altLang="zh-CN" sz="2000" dirty="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</a:rPr>
                <a:t>142</a:t>
              </a:r>
            </a:p>
          </p:txBody>
        </p:sp>
      </p:grpSp>
      <p:sp>
        <p:nvSpPr>
          <p:cNvPr id="1048680" name="矩形 92"/>
          <p:cNvSpPr/>
          <p:nvPr/>
        </p:nvSpPr>
        <p:spPr>
          <a:xfrm>
            <a:off x="5576888" y="1415098"/>
            <a:ext cx="3357562" cy="38106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lnSpc>
                <a:spcPct val="150000"/>
              </a:lnSpc>
            </a:pPr>
            <a:r>
              <a:rPr lang="en-US" sz="1400" dirty="0"/>
              <a:t>More than </a:t>
            </a:r>
            <a:r>
              <a:rPr lang="en-US" sz="1400" b="1" dirty="0"/>
              <a:t>743k </a:t>
            </a:r>
            <a:r>
              <a:rPr lang="en-US" sz="1400" dirty="0"/>
              <a:t>unique customer IDs.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681" name="矩形 93"/>
          <p:cNvSpPr/>
          <p:nvPr/>
        </p:nvSpPr>
        <p:spPr>
          <a:xfrm>
            <a:off x="5040312" y="2178050"/>
            <a:ext cx="3789363" cy="7042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lnSpc>
                <a:spcPct val="150000"/>
              </a:lnSpc>
            </a:pPr>
            <a:r>
              <a:rPr lang="en-US" sz="1400" b="1" dirty="0"/>
              <a:t>37</a:t>
            </a:r>
            <a:r>
              <a:rPr lang="en-US" sz="1400" dirty="0"/>
              <a:t> attributes covering orders, customers, stores, payments, and deliveries.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682" name="矩形 94"/>
          <p:cNvSpPr/>
          <p:nvPr/>
        </p:nvSpPr>
        <p:spPr>
          <a:xfrm>
            <a:off x="4517492" y="3157409"/>
            <a:ext cx="3621087" cy="38106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lnSpc>
                <a:spcPct val="150000"/>
              </a:lnSpc>
            </a:pPr>
            <a:r>
              <a:rPr lang="en-IN" sz="1400" dirty="0"/>
              <a:t>Transaction data spanning </a:t>
            </a:r>
            <a:r>
              <a:rPr lang="en-IN" sz="1400" b="1" dirty="0"/>
              <a:t>2022–2026</a:t>
            </a:r>
            <a:r>
              <a:rPr lang="en-IN" sz="1400" dirty="0"/>
              <a:t>.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683" name="矩形 95"/>
          <p:cNvSpPr/>
          <p:nvPr/>
        </p:nvSpPr>
        <p:spPr>
          <a:xfrm>
            <a:off x="3995737" y="3860800"/>
            <a:ext cx="3567112" cy="70423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lnSpc>
                <a:spcPct val="150000"/>
              </a:lnSpc>
            </a:pPr>
            <a:r>
              <a:rPr lang="en-US" sz="1400" dirty="0"/>
              <a:t>Orders fulfilled through </a:t>
            </a:r>
            <a:r>
              <a:rPr lang="en-US" sz="1400" b="1" dirty="0"/>
              <a:t>142</a:t>
            </a:r>
            <a:r>
              <a:rPr lang="en-US" sz="1400" dirty="0"/>
              <a:t> dark stores across multiple cities.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684" name="矩形 97"/>
          <p:cNvSpPr/>
          <p:nvPr/>
        </p:nvSpPr>
        <p:spPr>
          <a:xfrm>
            <a:off x="422275" y="363537"/>
            <a:ext cx="1173480" cy="2946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/>
            <a:r>
              <a:rPr lang="en-US" altLang="zh-CN" sz="1400" b="1" dirty="0">
                <a:solidFill>
                  <a:srgbClr val="203864"/>
                </a:solidFill>
                <a:latin typeface="微软雅黑" pitchFamily="34" charset="-122"/>
                <a:ea typeface="微软雅黑" pitchFamily="34" charset="-122"/>
                <a:hlinkClick r:id="rId2"/>
              </a:rPr>
              <a:t>Dataset Link</a:t>
            </a:r>
            <a:endParaRPr lang="en-US" altLang="zh-CN" sz="1400" b="1" dirty="0">
              <a:solidFill>
                <a:srgbClr val="203864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180"/>
          <p:cNvGrpSpPr/>
          <p:nvPr/>
        </p:nvGrpSpPr>
        <p:grpSpPr>
          <a:xfrm>
            <a:off x="3135246" y="0"/>
            <a:ext cx="2657537" cy="3186113"/>
            <a:chOff x="0" y="0"/>
            <a:chExt cx="2631401" cy="3277413"/>
          </a:xfrm>
        </p:grpSpPr>
        <p:sp>
          <p:nvSpPr>
            <p:cNvPr id="1048685" name="矩形 97"/>
            <p:cNvSpPr/>
            <p:nvPr/>
          </p:nvSpPr>
          <p:spPr>
            <a:xfrm flipH="1">
              <a:off x="1245402" y="0"/>
              <a:ext cx="144000" cy="273741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grpSp>
          <p:nvGrpSpPr>
            <p:cNvPr id="75" name="Group 181"/>
            <p:cNvGrpSpPr/>
            <p:nvPr/>
          </p:nvGrpSpPr>
          <p:grpSpPr>
            <a:xfrm>
              <a:off x="0" y="0"/>
              <a:ext cx="1245402" cy="3277413"/>
              <a:chOff x="0" y="0"/>
              <a:chExt cx="1245402" cy="3277413"/>
            </a:xfrm>
          </p:grpSpPr>
          <p:sp>
            <p:nvSpPr>
              <p:cNvPr id="1048686" name="矩形 92"/>
              <p:cNvSpPr/>
              <p:nvPr/>
            </p:nvSpPr>
            <p:spPr>
              <a:xfrm>
                <a:off x="304095" y="2737415"/>
                <a:ext cx="473307" cy="468000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687" name="直角三角形 93"/>
              <p:cNvSpPr/>
              <p:nvPr/>
            </p:nvSpPr>
            <p:spPr>
              <a:xfrm flipV="1">
                <a:off x="777402" y="2737417"/>
                <a:ext cx="468000" cy="468000"/>
              </a:xfrm>
              <a:prstGeom prst="rtTriangle">
                <a:avLst/>
              </a:prstGeom>
              <a:solidFill>
                <a:srgbClr val="111E35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688" name="矩形 94"/>
              <p:cNvSpPr/>
              <p:nvPr/>
            </p:nvSpPr>
            <p:spPr>
              <a:xfrm>
                <a:off x="777402" y="0"/>
                <a:ext cx="468000" cy="2737417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689" name="直角三角形 102"/>
              <p:cNvSpPr/>
              <p:nvPr/>
            </p:nvSpPr>
            <p:spPr>
              <a:xfrm rot="18900000" flipV="1">
                <a:off x="0" y="2665413"/>
                <a:ext cx="612000" cy="612000"/>
              </a:xfrm>
              <a:prstGeom prst="rtTriangle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grpSp>
          <p:nvGrpSpPr>
            <p:cNvPr id="76" name="Group 182"/>
            <p:cNvGrpSpPr/>
            <p:nvPr/>
          </p:nvGrpSpPr>
          <p:grpSpPr>
            <a:xfrm>
              <a:off x="1389402" y="1"/>
              <a:ext cx="1241999" cy="3277412"/>
              <a:chOff x="0" y="0"/>
              <a:chExt cx="1241999" cy="3277412"/>
            </a:xfrm>
          </p:grpSpPr>
          <p:sp>
            <p:nvSpPr>
              <p:cNvPr id="1048690" name="直角三角形 95"/>
              <p:cNvSpPr/>
              <p:nvPr/>
            </p:nvSpPr>
            <p:spPr>
              <a:xfrm flipH="1" flipV="1">
                <a:off x="0" y="2737416"/>
                <a:ext cx="468000" cy="468000"/>
              </a:xfrm>
              <a:prstGeom prst="rtTriangle">
                <a:avLst/>
              </a:prstGeom>
              <a:solidFill>
                <a:srgbClr val="111E35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691" name="矩形 96"/>
              <p:cNvSpPr/>
              <p:nvPr/>
            </p:nvSpPr>
            <p:spPr>
              <a:xfrm>
                <a:off x="0" y="0"/>
                <a:ext cx="468000" cy="273741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692" name="矩形 101"/>
              <p:cNvSpPr/>
              <p:nvPr/>
            </p:nvSpPr>
            <p:spPr>
              <a:xfrm>
                <a:off x="468000" y="2737414"/>
                <a:ext cx="473307" cy="468000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693" name="直角三角形 103"/>
              <p:cNvSpPr/>
              <p:nvPr/>
            </p:nvSpPr>
            <p:spPr>
              <a:xfrm rot="2700000" flipH="1" flipV="1">
                <a:off x="629999" y="2665412"/>
                <a:ext cx="612000" cy="612000"/>
              </a:xfrm>
              <a:prstGeom prst="rtTriangle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grpSp>
          <p:nvGrpSpPr>
            <p:cNvPr id="77" name="Group 183"/>
            <p:cNvGrpSpPr/>
            <p:nvPr/>
          </p:nvGrpSpPr>
          <p:grpSpPr>
            <a:xfrm>
              <a:off x="306000" y="2593413"/>
              <a:ext cx="473292" cy="612002"/>
              <a:chOff x="0" y="0"/>
              <a:chExt cx="473292" cy="612002"/>
            </a:xfrm>
          </p:grpSpPr>
          <p:sp>
            <p:nvSpPr>
              <p:cNvPr id="1048694" name="矩形 104"/>
              <p:cNvSpPr/>
              <p:nvPr/>
            </p:nvSpPr>
            <p:spPr>
              <a:xfrm flipH="1">
                <a:off x="143999" y="0"/>
                <a:ext cx="329293" cy="1440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695" name="直角三角形 106"/>
              <p:cNvSpPr/>
              <p:nvPr/>
            </p:nvSpPr>
            <p:spPr>
              <a:xfrm rot="10800000" flipV="1">
                <a:off x="0" y="0"/>
                <a:ext cx="144000" cy="144000"/>
              </a:xfrm>
              <a:prstGeom prst="rtTriangle">
                <a:avLst/>
              </a:prstGeom>
              <a:solidFill>
                <a:srgbClr val="D09E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696" name="矩形 107"/>
              <p:cNvSpPr/>
              <p:nvPr/>
            </p:nvSpPr>
            <p:spPr>
              <a:xfrm flipH="1">
                <a:off x="271" y="144000"/>
                <a:ext cx="144000" cy="46800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grpSp>
          <p:nvGrpSpPr>
            <p:cNvPr id="78" name="Group 184"/>
            <p:cNvGrpSpPr/>
            <p:nvPr/>
          </p:nvGrpSpPr>
          <p:grpSpPr>
            <a:xfrm>
              <a:off x="1856454" y="2593413"/>
              <a:ext cx="468799" cy="612002"/>
              <a:chOff x="0" y="0"/>
              <a:chExt cx="468799" cy="612002"/>
            </a:xfrm>
          </p:grpSpPr>
          <p:sp>
            <p:nvSpPr>
              <p:cNvPr id="1048697" name="矩形 105"/>
              <p:cNvSpPr/>
              <p:nvPr/>
            </p:nvSpPr>
            <p:spPr>
              <a:xfrm flipH="1">
                <a:off x="0" y="0"/>
                <a:ext cx="323841" cy="1440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698" name="直角三角形 109"/>
              <p:cNvSpPr/>
              <p:nvPr/>
            </p:nvSpPr>
            <p:spPr>
              <a:xfrm rot="10800000" flipH="1" flipV="1">
                <a:off x="323842" y="0"/>
                <a:ext cx="144000" cy="144000"/>
              </a:xfrm>
              <a:prstGeom prst="rtTriangle">
                <a:avLst/>
              </a:prstGeom>
              <a:solidFill>
                <a:srgbClr val="D09E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699" name="矩形 110"/>
              <p:cNvSpPr/>
              <p:nvPr/>
            </p:nvSpPr>
            <p:spPr>
              <a:xfrm flipH="1">
                <a:off x="324799" y="144000"/>
                <a:ext cx="144000" cy="46800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</p:grpSp>
      <p:sp>
        <p:nvSpPr>
          <p:cNvPr id="1048700" name="矩形 111"/>
          <p:cNvSpPr/>
          <p:nvPr/>
        </p:nvSpPr>
        <p:spPr>
          <a:xfrm>
            <a:off x="5908739" y="1211065"/>
            <a:ext cx="3235261" cy="31394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>
              <a:lnSpc>
                <a:spcPct val="150000"/>
              </a:lnSpc>
            </a:pPr>
            <a:r>
              <a:rPr lang="en-US" sz="1400" dirty="0"/>
              <a:t>To analyze </a:t>
            </a:r>
            <a:r>
              <a:rPr lang="en-US" sz="1400" dirty="0" err="1"/>
              <a:t>Blinkit's</a:t>
            </a:r>
            <a:r>
              <a:rPr lang="en-US" sz="1400" dirty="0"/>
              <a:t> order data from </a:t>
            </a:r>
            <a:r>
              <a:rPr lang="en-US" sz="1400" b="1" dirty="0"/>
              <a:t>2022 to 2026</a:t>
            </a:r>
            <a:r>
              <a:rPr lang="en-US" sz="1400" dirty="0"/>
              <a:t> using MySQL and generate actionable business insights related to  </a:t>
            </a:r>
            <a:r>
              <a:rPr lang="en-US" sz="1400" b="1" dirty="0"/>
              <a:t>revenue, customer behavior, payment trends, delivery performance, and business growth</a:t>
            </a:r>
            <a:r>
              <a:rPr lang="en-US" sz="1400" dirty="0"/>
              <a:t>. The project aims to demonstrate how SQL can transform large- scale transactional data into meaningful  insights that support data-driven decision-making.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701" name="矩形 112"/>
          <p:cNvSpPr/>
          <p:nvPr/>
        </p:nvSpPr>
        <p:spPr>
          <a:xfrm>
            <a:off x="6307303" y="903288"/>
            <a:ext cx="1592581" cy="2946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/>
            <a:r>
              <a:rPr lang="en-US" altLang="zh-CN" sz="1400" b="1" dirty="0">
                <a:solidFill>
                  <a:srgbClr val="203864"/>
                </a:solidFill>
                <a:latin typeface="微软雅黑" pitchFamily="34" charset="-122"/>
                <a:ea typeface="微软雅黑" pitchFamily="34" charset="-122"/>
              </a:rPr>
              <a:t>Project Objectives</a:t>
            </a:r>
          </a:p>
        </p:txBody>
      </p:sp>
      <p:sp>
        <p:nvSpPr>
          <p:cNvPr id="1048702" name="矩形 113"/>
          <p:cNvSpPr/>
          <p:nvPr/>
        </p:nvSpPr>
        <p:spPr>
          <a:xfrm>
            <a:off x="0" y="1212850"/>
            <a:ext cx="2925762" cy="37490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just">
              <a:lnSpc>
                <a:spcPct val="150000"/>
              </a:lnSpc>
            </a:pPr>
            <a:r>
              <a:rPr lang="en-US" sz="1400" dirty="0" err="1"/>
              <a:t>Blinkit</a:t>
            </a:r>
            <a:r>
              <a:rPr lang="en-US" sz="1400" dirty="0"/>
              <a:t> processes millions of customer orders every year, making it difficult  derive meaningful business insights   directly from raw transactional data. This project focuses on analyzing over </a:t>
            </a:r>
            <a:r>
              <a:rPr lang="en-US" sz="1400" b="1" dirty="0"/>
              <a:t>3.85 million order records</a:t>
            </a:r>
            <a:r>
              <a:rPr lang="en-US" sz="1400" dirty="0"/>
              <a:t> to identify revenue trends, customer purchasing behavior, operational performance,  payment preferences, and growth     opportunities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703" name="矩形 114"/>
          <p:cNvSpPr/>
          <p:nvPr/>
        </p:nvSpPr>
        <p:spPr>
          <a:xfrm>
            <a:off x="684515" y="903288"/>
            <a:ext cx="1706880" cy="2946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r"/>
            <a:r>
              <a:rPr lang="en-US" altLang="zh-CN" sz="1400" b="1" dirty="0">
                <a:solidFill>
                  <a:srgbClr val="203864"/>
                </a:solidFill>
                <a:latin typeface="微软雅黑" pitchFamily="34" charset="-122"/>
                <a:ea typeface="微软雅黑" pitchFamily="34" charset="-122"/>
              </a:rPr>
              <a:t>Problem Statement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152"/>
          <p:cNvGrpSpPr/>
          <p:nvPr/>
        </p:nvGrpSpPr>
        <p:grpSpPr>
          <a:xfrm>
            <a:off x="304800" y="2038355"/>
            <a:ext cx="2220912" cy="542760"/>
            <a:chOff x="0" y="0"/>
            <a:chExt cx="2220314" cy="542094"/>
          </a:xfrm>
        </p:grpSpPr>
        <p:sp>
          <p:nvSpPr>
            <p:cNvPr id="1048704" name="直角三角形 45"/>
            <p:cNvSpPr/>
            <p:nvPr/>
          </p:nvSpPr>
          <p:spPr>
            <a:xfrm rot="10800000" flipH="1" flipV="1">
              <a:off x="1819725" y="384981"/>
              <a:ext cx="121854" cy="121854"/>
            </a:xfrm>
            <a:prstGeom prst="rtTriangle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05" name="矩形 46"/>
            <p:cNvSpPr/>
            <p:nvPr/>
          </p:nvSpPr>
          <p:spPr>
            <a:xfrm flipH="1">
              <a:off x="0" y="396924"/>
              <a:ext cx="1827804" cy="1104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06" name="直角三角形 49"/>
            <p:cNvSpPr/>
            <p:nvPr/>
          </p:nvSpPr>
          <p:spPr>
            <a:xfrm>
              <a:off x="1824291" y="0"/>
              <a:ext cx="396023" cy="396023"/>
            </a:xfrm>
            <a:prstGeom prst="rtTriangle">
              <a:avLst/>
            </a:prstGeom>
            <a:solidFill>
              <a:srgbClr val="111E35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07" name="矩形 52"/>
            <p:cNvSpPr/>
            <p:nvPr/>
          </p:nvSpPr>
          <p:spPr>
            <a:xfrm>
              <a:off x="1054" y="224"/>
              <a:ext cx="1827804" cy="396023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08" name="文本框 61"/>
            <p:cNvSpPr txBox="1"/>
            <p:nvPr/>
          </p:nvSpPr>
          <p:spPr>
            <a:xfrm>
              <a:off x="19151" y="44866"/>
              <a:ext cx="1800573" cy="49722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r>
                <a:rPr lang="en-IN" sz="1400" dirty="0">
                  <a:solidFill>
                    <a:schemeClr val="bg1"/>
                  </a:solidFill>
                </a:rPr>
                <a:t>Revenue Optimization</a:t>
              </a:r>
              <a:endPara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1" name="Group 153"/>
          <p:cNvGrpSpPr/>
          <p:nvPr/>
        </p:nvGrpSpPr>
        <p:grpSpPr>
          <a:xfrm>
            <a:off x="2130425" y="2433642"/>
            <a:ext cx="2617787" cy="519112"/>
            <a:chOff x="0" y="0"/>
            <a:chExt cx="2618040" cy="519377"/>
          </a:xfrm>
        </p:grpSpPr>
        <p:sp>
          <p:nvSpPr>
            <p:cNvPr id="1048709" name="矩形 42"/>
            <p:cNvSpPr/>
            <p:nvPr/>
          </p:nvSpPr>
          <p:spPr>
            <a:xfrm flipV="1">
              <a:off x="396024" y="748"/>
              <a:ext cx="1827804" cy="396023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10" name="直角三角形 43"/>
            <p:cNvSpPr/>
            <p:nvPr/>
          </p:nvSpPr>
          <p:spPr>
            <a:xfrm flipV="1">
              <a:off x="2222017" y="748"/>
              <a:ext cx="396023" cy="396023"/>
            </a:xfrm>
            <a:prstGeom prst="rtTriangle">
              <a:avLst/>
            </a:prstGeom>
            <a:solidFill>
              <a:srgbClr val="111E35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11" name="直角三角形 47"/>
            <p:cNvSpPr/>
            <p:nvPr/>
          </p:nvSpPr>
          <p:spPr>
            <a:xfrm flipH="1" flipV="1">
              <a:off x="0" y="748"/>
              <a:ext cx="396023" cy="396023"/>
            </a:xfrm>
            <a:prstGeom prst="rtTriangle">
              <a:avLst/>
            </a:prstGeom>
            <a:solidFill>
              <a:srgbClr val="111E35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12" name="矩形 55"/>
            <p:cNvSpPr/>
            <p:nvPr/>
          </p:nvSpPr>
          <p:spPr>
            <a:xfrm flipH="1">
              <a:off x="517872" y="397523"/>
              <a:ext cx="1584097" cy="12185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13" name="直角三角形 56"/>
            <p:cNvSpPr/>
            <p:nvPr/>
          </p:nvSpPr>
          <p:spPr>
            <a:xfrm rot="10800000">
              <a:off x="398307" y="397523"/>
              <a:ext cx="121854" cy="121854"/>
            </a:xfrm>
            <a:prstGeom prst="rtTriangle">
              <a:avLst/>
            </a:prstGeom>
            <a:solidFill>
              <a:srgbClr val="D09E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14" name="直角三角形 57"/>
            <p:cNvSpPr/>
            <p:nvPr/>
          </p:nvSpPr>
          <p:spPr>
            <a:xfrm rot="10800000" flipH="1">
              <a:off x="2101975" y="397523"/>
              <a:ext cx="121854" cy="121854"/>
            </a:xfrm>
            <a:prstGeom prst="rtTriangle">
              <a:avLst/>
            </a:prstGeom>
            <a:solidFill>
              <a:srgbClr val="D09E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15" name="直角三角形 59"/>
            <p:cNvSpPr/>
            <p:nvPr/>
          </p:nvSpPr>
          <p:spPr>
            <a:xfrm rot="10800000" flipV="1">
              <a:off x="2494485" y="0"/>
              <a:ext cx="121854" cy="121854"/>
            </a:xfrm>
            <a:prstGeom prst="rtTriangle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16" name="文本框 62"/>
            <p:cNvSpPr txBox="1"/>
            <p:nvPr/>
          </p:nvSpPr>
          <p:spPr>
            <a:xfrm>
              <a:off x="395915" y="59038"/>
              <a:ext cx="1846759" cy="294792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r>
                <a:rPr lang="en-IN" sz="1400" dirty="0">
                  <a:solidFill>
                    <a:schemeClr val="bg1"/>
                  </a:solidFill>
                </a:rPr>
                <a:t>Customer Experience</a:t>
              </a:r>
              <a:endPara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2" name="Group 154"/>
          <p:cNvGrpSpPr/>
          <p:nvPr/>
        </p:nvGrpSpPr>
        <p:grpSpPr>
          <a:xfrm>
            <a:off x="4351337" y="2038355"/>
            <a:ext cx="2617787" cy="517525"/>
            <a:chOff x="0" y="0"/>
            <a:chExt cx="2618041" cy="516873"/>
          </a:xfrm>
        </p:grpSpPr>
        <p:sp>
          <p:nvSpPr>
            <p:cNvPr id="1048717" name="直角三角形 50"/>
            <p:cNvSpPr/>
            <p:nvPr/>
          </p:nvSpPr>
          <p:spPr>
            <a:xfrm flipH="1">
              <a:off x="0" y="871"/>
              <a:ext cx="396023" cy="396023"/>
            </a:xfrm>
            <a:prstGeom prst="rtTriangle">
              <a:avLst/>
            </a:prstGeom>
            <a:solidFill>
              <a:srgbClr val="111E35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18" name="矩形 53"/>
            <p:cNvSpPr/>
            <p:nvPr/>
          </p:nvSpPr>
          <p:spPr>
            <a:xfrm>
              <a:off x="394323" y="0"/>
              <a:ext cx="1827804" cy="396023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19" name="矩形 60"/>
            <p:cNvSpPr/>
            <p:nvPr/>
          </p:nvSpPr>
          <p:spPr>
            <a:xfrm flipH="1">
              <a:off x="394323" y="394747"/>
              <a:ext cx="1827695" cy="12185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20" name="文本框 63"/>
            <p:cNvSpPr txBox="1"/>
            <p:nvPr/>
          </p:nvSpPr>
          <p:spPr>
            <a:xfrm>
              <a:off x="426582" y="27131"/>
              <a:ext cx="1897565" cy="29427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r>
                <a:rPr lang="en-IN" sz="1400" dirty="0">
                  <a:solidFill>
                    <a:schemeClr val="bg1"/>
                  </a:solidFill>
                </a:rPr>
                <a:t>Operational Efficiency</a:t>
              </a:r>
              <a:endPara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48721" name="直角三角形 28"/>
            <p:cNvSpPr/>
            <p:nvPr/>
          </p:nvSpPr>
          <p:spPr>
            <a:xfrm>
              <a:off x="2222018" y="0"/>
              <a:ext cx="396023" cy="396023"/>
            </a:xfrm>
            <a:prstGeom prst="rtTriangle">
              <a:avLst/>
            </a:prstGeom>
            <a:solidFill>
              <a:srgbClr val="111E35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22" name="直角三角形 29"/>
            <p:cNvSpPr/>
            <p:nvPr/>
          </p:nvSpPr>
          <p:spPr>
            <a:xfrm rot="10800000" flipH="1" flipV="1">
              <a:off x="2219658" y="395019"/>
              <a:ext cx="121854" cy="121854"/>
            </a:xfrm>
            <a:prstGeom prst="rtTriangle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83" name="Group 155"/>
          <p:cNvGrpSpPr/>
          <p:nvPr/>
        </p:nvGrpSpPr>
        <p:grpSpPr>
          <a:xfrm>
            <a:off x="6573837" y="2433642"/>
            <a:ext cx="2377535" cy="519111"/>
            <a:chOff x="0" y="0"/>
            <a:chExt cx="2377499" cy="518629"/>
          </a:xfrm>
        </p:grpSpPr>
        <p:sp>
          <p:nvSpPr>
            <p:cNvPr id="1048723" name="直角三角形 27"/>
            <p:cNvSpPr/>
            <p:nvPr/>
          </p:nvSpPr>
          <p:spPr>
            <a:xfrm flipH="1" flipV="1">
              <a:off x="0" y="0"/>
              <a:ext cx="396023" cy="396023"/>
            </a:xfrm>
            <a:prstGeom prst="rtTriangle">
              <a:avLst/>
            </a:prstGeom>
            <a:solidFill>
              <a:srgbClr val="111E35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24" name="矩形 30"/>
            <p:cNvSpPr/>
            <p:nvPr/>
          </p:nvSpPr>
          <p:spPr>
            <a:xfrm flipV="1">
              <a:off x="394661" y="0"/>
              <a:ext cx="1827804" cy="396023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25" name="矩形 31"/>
            <p:cNvSpPr/>
            <p:nvPr/>
          </p:nvSpPr>
          <p:spPr>
            <a:xfrm flipH="1">
              <a:off x="516507" y="396775"/>
              <a:ext cx="1703661" cy="12185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26" name="直角三角形 32"/>
            <p:cNvSpPr/>
            <p:nvPr/>
          </p:nvSpPr>
          <p:spPr>
            <a:xfrm rot="10800000">
              <a:off x="396943" y="396775"/>
              <a:ext cx="121854" cy="121854"/>
            </a:xfrm>
            <a:prstGeom prst="rtTriangle">
              <a:avLst/>
            </a:prstGeom>
            <a:solidFill>
              <a:srgbClr val="D09E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27" name="文本框 68"/>
            <p:cNvSpPr txBox="1"/>
            <p:nvPr/>
          </p:nvSpPr>
          <p:spPr>
            <a:xfrm>
              <a:off x="365850" y="27980"/>
              <a:ext cx="2011649" cy="29436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r>
                <a:rPr lang="en-IN" sz="1400" dirty="0">
                  <a:solidFill>
                    <a:schemeClr val="bg1"/>
                  </a:solidFill>
                </a:rPr>
                <a:t>Payment &amp; Promotions</a:t>
              </a:r>
              <a:endPara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48728" name="矩形 69"/>
          <p:cNvSpPr/>
          <p:nvPr/>
        </p:nvSpPr>
        <p:spPr>
          <a:xfrm>
            <a:off x="245961" y="769106"/>
            <a:ext cx="2820182" cy="1691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Identify top revenue-generating cities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Track yearly and monthly GMV trends.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Focus investments on high-performing regions.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729" name="矩形 70"/>
          <p:cNvSpPr/>
          <p:nvPr/>
        </p:nvSpPr>
        <p:spPr>
          <a:xfrm>
            <a:off x="2125014" y="3048006"/>
            <a:ext cx="3117251" cy="14249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marL="171450" indent="-171450">
              <a:lnSpc>
                <a:spcPct val="150000"/>
              </a:lnSpc>
              <a:buChar char="•"/>
            </a:pPr>
            <a:r>
              <a:rPr lang="en-IN" sz="1200" dirty="0"/>
              <a:t>Understand customer purchasing behaviour.</a:t>
            </a: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en-IN" sz="1200" dirty="0"/>
              <a:t>Increase repeat customer retention.</a:t>
            </a: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en-IN" sz="1200" dirty="0"/>
              <a:t>Identify high-value customer segments.</a:t>
            </a:r>
          </a:p>
          <a:p>
            <a:pPr marL="171450" indent="-171450">
              <a:lnSpc>
                <a:spcPct val="150000"/>
              </a:lnSpc>
              <a:buChar char="•"/>
            </a:pPr>
            <a:endParaRPr lang="en-US" altLang="zh-CN" sz="1200" dirty="0"/>
          </a:p>
        </p:txBody>
      </p:sp>
      <p:sp>
        <p:nvSpPr>
          <p:cNvPr id="1048730" name="矩形 71"/>
          <p:cNvSpPr/>
          <p:nvPr/>
        </p:nvSpPr>
        <p:spPr>
          <a:xfrm>
            <a:off x="4746625" y="882655"/>
            <a:ext cx="3339329" cy="8501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Identify peak ordering hours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Reduce </a:t>
            </a:r>
            <a:r>
              <a:rPr lang="en-IN" sz="1200" dirty="0"/>
              <a:t>cancellations</a:t>
            </a:r>
            <a:r>
              <a:rPr lang="en-IN" sz="1100" dirty="0"/>
              <a:t> and returns.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. Monitor store-wise delivery performance.</a:t>
            </a:r>
            <a:endParaRPr lang="en-US" altLang="zh-CN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731" name="矩形 72"/>
          <p:cNvSpPr/>
          <p:nvPr/>
        </p:nvSpPr>
        <p:spPr>
          <a:xfrm>
            <a:off x="6556375" y="2952755"/>
            <a:ext cx="2559390" cy="11040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 err="1"/>
              <a:t>Analyze</a:t>
            </a:r>
            <a:r>
              <a:rPr lang="en-IN" sz="1100" dirty="0"/>
              <a:t> payment preferences.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Measure UPI adoption trends.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Evaluate the </a:t>
            </a:r>
            <a:r>
              <a:rPr lang="en-US" sz="1200" dirty="0"/>
              <a:t>effectiveness</a:t>
            </a:r>
            <a:r>
              <a:rPr lang="en-US" sz="1100" dirty="0"/>
              <a:t> of discounts and promo campaigns.</a:t>
            </a:r>
            <a:endParaRPr lang="en-US" altLang="zh-CN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732" name="Freeform 138"/>
          <p:cNvSpPr/>
          <p:nvPr/>
        </p:nvSpPr>
        <p:spPr>
          <a:xfrm>
            <a:off x="938212" y="2776542"/>
            <a:ext cx="561975" cy="561975"/>
          </a:xfrm>
          <a:custGeom>
            <a:avLst/>
            <a:gdLst/>
            <a:ahLst/>
            <a:cxnLst/>
            <a:rect l="0" t="0" r="r" b="b"/>
            <a:pathLst>
              <a:path w="288" h="288">
                <a:moveTo>
                  <a:pt x="144" y="0"/>
                </a:moveTo>
                <a:cubicBezTo>
                  <a:pt x="64" y="0"/>
                  <a:pt x="0" y="65"/>
                  <a:pt x="0" y="144"/>
                </a:cubicBezTo>
                <a:cubicBezTo>
                  <a:pt x="0" y="224"/>
                  <a:pt x="64" y="288"/>
                  <a:pt x="144" y="288"/>
                </a:cubicBezTo>
                <a:cubicBezTo>
                  <a:pt x="224" y="288"/>
                  <a:pt x="288" y="224"/>
                  <a:pt x="288" y="144"/>
                </a:cubicBezTo>
                <a:cubicBezTo>
                  <a:pt x="288" y="65"/>
                  <a:pt x="224" y="0"/>
                  <a:pt x="144" y="0"/>
                </a:cubicBezTo>
                <a:close/>
                <a:moveTo>
                  <a:pt x="236" y="106"/>
                </a:moveTo>
                <a:cubicBezTo>
                  <a:pt x="135" y="208"/>
                  <a:pt x="135" y="208"/>
                  <a:pt x="135" y="208"/>
                </a:cubicBezTo>
                <a:cubicBezTo>
                  <a:pt x="132" y="210"/>
                  <a:pt x="126" y="213"/>
                  <a:pt x="122" y="213"/>
                </a:cubicBezTo>
                <a:cubicBezTo>
                  <a:pt x="113" y="213"/>
                  <a:pt x="113" y="213"/>
                  <a:pt x="113" y="213"/>
                </a:cubicBezTo>
                <a:cubicBezTo>
                  <a:pt x="109" y="213"/>
                  <a:pt x="103" y="210"/>
                  <a:pt x="101" y="208"/>
                </a:cubicBezTo>
                <a:cubicBezTo>
                  <a:pt x="53" y="160"/>
                  <a:pt x="53" y="160"/>
                  <a:pt x="53" y="160"/>
                </a:cubicBezTo>
                <a:cubicBezTo>
                  <a:pt x="50" y="157"/>
                  <a:pt x="50" y="152"/>
                  <a:pt x="53" y="149"/>
                </a:cubicBezTo>
                <a:cubicBezTo>
                  <a:pt x="72" y="130"/>
                  <a:pt x="72" y="130"/>
                  <a:pt x="72" y="130"/>
                </a:cubicBezTo>
                <a:cubicBezTo>
                  <a:pt x="75" y="127"/>
                  <a:pt x="79" y="127"/>
                  <a:pt x="82" y="130"/>
                </a:cubicBezTo>
                <a:cubicBezTo>
                  <a:pt x="113" y="161"/>
                  <a:pt x="113" y="161"/>
                  <a:pt x="113" y="161"/>
                </a:cubicBezTo>
                <a:cubicBezTo>
                  <a:pt x="116" y="164"/>
                  <a:pt x="120" y="164"/>
                  <a:pt x="123" y="161"/>
                </a:cubicBezTo>
                <a:cubicBezTo>
                  <a:pt x="207" y="77"/>
                  <a:pt x="207" y="77"/>
                  <a:pt x="207" y="77"/>
                </a:cubicBezTo>
                <a:cubicBezTo>
                  <a:pt x="210" y="74"/>
                  <a:pt x="214" y="74"/>
                  <a:pt x="217" y="77"/>
                </a:cubicBezTo>
                <a:cubicBezTo>
                  <a:pt x="236" y="96"/>
                  <a:pt x="236" y="96"/>
                  <a:pt x="236" y="96"/>
                </a:cubicBezTo>
                <a:cubicBezTo>
                  <a:pt x="239" y="98"/>
                  <a:pt x="239" y="103"/>
                  <a:pt x="236" y="106"/>
                </a:cubicBezTo>
              </a:path>
            </a:pathLst>
          </a:custGeom>
          <a:solidFill>
            <a:srgbClr val="203864"/>
          </a:solidFill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/>
            <a:endParaRPr lang="en-US" altLang="zh-CN"/>
          </a:p>
        </p:txBody>
      </p:sp>
      <p:grpSp>
        <p:nvGrpSpPr>
          <p:cNvPr id="84" name="Group 157"/>
          <p:cNvGrpSpPr/>
          <p:nvPr/>
        </p:nvGrpSpPr>
        <p:grpSpPr>
          <a:xfrm>
            <a:off x="5373687" y="2776542"/>
            <a:ext cx="557212" cy="555625"/>
            <a:chOff x="0" y="0"/>
            <a:chExt cx="236501" cy="236501"/>
          </a:xfrm>
        </p:grpSpPr>
        <p:sp>
          <p:nvSpPr>
            <p:cNvPr id="1048733" name="Freeform 201"/>
            <p:cNvSpPr/>
            <p:nvPr/>
          </p:nvSpPr>
          <p:spPr>
            <a:xfrm>
              <a:off x="0" y="0"/>
              <a:ext cx="236501" cy="236501"/>
            </a:xfrm>
            <a:custGeom>
              <a:avLst/>
              <a:gdLst/>
              <a:ahLst/>
              <a:cxnLst/>
              <a:rect l="0" t="0" r="r" b="b"/>
              <a:pathLst>
                <a:path w="288" h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224"/>
                    <a:pt x="64" y="288"/>
                    <a:pt x="144" y="288"/>
                  </a:cubicBezTo>
                  <a:cubicBezTo>
                    <a:pt x="223" y="288"/>
                    <a:pt x="288" y="22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  <a:moveTo>
                    <a:pt x="144" y="252"/>
                  </a:moveTo>
                  <a:cubicBezTo>
                    <a:pt x="84" y="252"/>
                    <a:pt x="36" y="204"/>
                    <a:pt x="36" y="144"/>
                  </a:cubicBezTo>
                  <a:cubicBezTo>
                    <a:pt x="36" y="85"/>
                    <a:pt x="84" y="36"/>
                    <a:pt x="144" y="36"/>
                  </a:cubicBezTo>
                  <a:cubicBezTo>
                    <a:pt x="203" y="36"/>
                    <a:pt x="252" y="85"/>
                    <a:pt x="252" y="144"/>
                  </a:cubicBezTo>
                  <a:cubicBezTo>
                    <a:pt x="252" y="204"/>
                    <a:pt x="203" y="252"/>
                    <a:pt x="144" y="252"/>
                  </a:cubicBezTo>
                </a:path>
              </a:pathLst>
            </a:custGeom>
            <a:solidFill>
              <a:srgbClr val="203864"/>
            </a:solidFill>
            <a:ln>
              <a:noFill/>
            </a:ln>
          </p:spPr>
          <p:txBody>
            <a:bodyPr vert="horz" lIns="91440" tIns="45720" rIns="91440" bIns="45720" anchor="t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endParaRPr lang="en-US" altLang="zh-CN"/>
            </a:p>
          </p:txBody>
        </p:sp>
        <p:sp>
          <p:nvSpPr>
            <p:cNvPr id="1048734" name="Freeform 202"/>
            <p:cNvSpPr/>
            <p:nvPr/>
          </p:nvSpPr>
          <p:spPr>
            <a:xfrm>
              <a:off x="105398" y="53983"/>
              <a:ext cx="74550" cy="110539"/>
            </a:xfrm>
            <a:custGeom>
              <a:avLst/>
              <a:gdLst/>
              <a:ahLst/>
              <a:cxnLst/>
              <a:rect l="0" t="0" r="r" b="b"/>
              <a:pathLst>
                <a:path w="88" h="135">
                  <a:moveTo>
                    <a:pt x="84" y="111"/>
                  </a:moveTo>
                  <a:cubicBezTo>
                    <a:pt x="27" y="72"/>
                    <a:pt x="27" y="72"/>
                    <a:pt x="27" y="72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4"/>
                    <a:pt x="27" y="3"/>
                    <a:pt x="26" y="2"/>
                  </a:cubicBezTo>
                  <a:cubicBezTo>
                    <a:pt x="25" y="1"/>
                    <a:pt x="23" y="0"/>
                    <a:pt x="21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0"/>
                    <a:pt x="3" y="1"/>
                    <a:pt x="1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6"/>
                    <a:pt x="0" y="87"/>
                    <a:pt x="1" y="88"/>
                  </a:cubicBezTo>
                  <a:cubicBezTo>
                    <a:pt x="2" y="89"/>
                    <a:pt x="2" y="89"/>
                    <a:pt x="3" y="89"/>
                  </a:cubicBezTo>
                  <a:cubicBezTo>
                    <a:pt x="69" y="134"/>
                    <a:pt x="69" y="134"/>
                    <a:pt x="69" y="134"/>
                  </a:cubicBezTo>
                  <a:cubicBezTo>
                    <a:pt x="70" y="135"/>
                    <a:pt x="72" y="135"/>
                    <a:pt x="73" y="135"/>
                  </a:cubicBezTo>
                  <a:cubicBezTo>
                    <a:pt x="73" y="135"/>
                    <a:pt x="74" y="135"/>
                    <a:pt x="74" y="135"/>
                  </a:cubicBezTo>
                  <a:cubicBezTo>
                    <a:pt x="76" y="134"/>
                    <a:pt x="77" y="133"/>
                    <a:pt x="78" y="132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8" y="116"/>
                    <a:pt x="87" y="112"/>
                    <a:pt x="84" y="111"/>
                  </a:cubicBezTo>
                </a:path>
              </a:pathLst>
            </a:custGeom>
            <a:solidFill>
              <a:srgbClr val="203864"/>
            </a:solidFill>
            <a:ln>
              <a:noFill/>
            </a:ln>
          </p:spPr>
          <p:txBody>
            <a:bodyPr vert="horz" lIns="91440" tIns="45720" rIns="91440" bIns="45720" anchor="t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endParaRPr lang="en-US" altLang="zh-CN"/>
            </a:p>
          </p:txBody>
        </p:sp>
      </p:grpSp>
      <p:pic>
        <p:nvPicPr>
          <p:cNvPr id="2097155" name="Graphic 8" descr="Bar chart RTL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627960" y="1428129"/>
            <a:ext cx="914400" cy="914400"/>
          </a:xfrm>
          <a:prstGeom prst="rect">
            <a:avLst/>
          </a:prstGeom>
        </p:spPr>
      </p:pic>
      <p:pic>
        <p:nvPicPr>
          <p:cNvPr id="2097156" name="Graphic 12" descr="Business Growth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96719" y="1506457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矩形 7"/>
          <p:cNvSpPr/>
          <p:nvPr/>
        </p:nvSpPr>
        <p:spPr>
          <a:xfrm flipH="1">
            <a:off x="593725" y="596900"/>
            <a:ext cx="360362" cy="4546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1048736" name="矩形 8"/>
          <p:cNvSpPr/>
          <p:nvPr/>
        </p:nvSpPr>
        <p:spPr>
          <a:xfrm flipV="1">
            <a:off x="3267075" y="0"/>
            <a:ext cx="539750" cy="5969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grpSp>
        <p:nvGrpSpPr>
          <p:cNvPr id="86" name="Group 42"/>
          <p:cNvGrpSpPr/>
          <p:nvPr/>
        </p:nvGrpSpPr>
        <p:grpSpPr>
          <a:xfrm>
            <a:off x="593725" y="238125"/>
            <a:ext cx="8550275" cy="361950"/>
            <a:chOff x="0" y="0"/>
            <a:chExt cx="8550524" cy="362139"/>
          </a:xfrm>
        </p:grpSpPr>
        <p:sp>
          <p:nvSpPr>
            <p:cNvPr id="1048737" name="直角三角形 5"/>
            <p:cNvSpPr/>
            <p:nvPr/>
          </p:nvSpPr>
          <p:spPr>
            <a:xfrm rot="5400000" flipH="1" flipV="1">
              <a:off x="0" y="0"/>
              <a:ext cx="360000" cy="360000"/>
            </a:xfrm>
            <a:prstGeom prst="rtTriangle">
              <a:avLst/>
            </a:prstGeom>
            <a:solidFill>
              <a:srgbClr val="D09E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38" name="矩形 6"/>
            <p:cNvSpPr/>
            <p:nvPr/>
          </p:nvSpPr>
          <p:spPr>
            <a:xfrm flipH="1">
              <a:off x="359999" y="714"/>
              <a:ext cx="8190525" cy="3614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87" name="Group 43"/>
          <p:cNvGrpSpPr/>
          <p:nvPr/>
        </p:nvGrpSpPr>
        <p:grpSpPr>
          <a:xfrm>
            <a:off x="0" y="600075"/>
            <a:ext cx="3806825" cy="539750"/>
            <a:chOff x="0" y="0"/>
            <a:chExt cx="3807075" cy="540000"/>
          </a:xfrm>
        </p:grpSpPr>
        <p:grpSp>
          <p:nvGrpSpPr>
            <p:cNvPr id="88" name="Group 44"/>
            <p:cNvGrpSpPr/>
            <p:nvPr/>
          </p:nvGrpSpPr>
          <p:grpSpPr>
            <a:xfrm>
              <a:off x="0" y="0"/>
              <a:ext cx="3807075" cy="540000"/>
              <a:chOff x="0" y="0"/>
              <a:chExt cx="3807075" cy="540000"/>
            </a:xfrm>
          </p:grpSpPr>
          <p:sp>
            <p:nvSpPr>
              <p:cNvPr id="1048739" name="矩形 2"/>
              <p:cNvSpPr/>
              <p:nvPr/>
            </p:nvSpPr>
            <p:spPr>
              <a:xfrm flipV="1">
                <a:off x="0" y="0"/>
                <a:ext cx="3267075" cy="540000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740" name="直角三角形 3"/>
              <p:cNvSpPr/>
              <p:nvPr/>
            </p:nvSpPr>
            <p:spPr>
              <a:xfrm flipV="1">
                <a:off x="3267075" y="0"/>
                <a:ext cx="540000" cy="540000"/>
              </a:xfrm>
              <a:prstGeom prst="rtTriangle">
                <a:avLst/>
              </a:prstGeom>
              <a:solidFill>
                <a:srgbClr val="111E35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1048741" name="矩形 9"/>
            <p:cNvSpPr/>
            <p:nvPr/>
          </p:nvSpPr>
          <p:spPr>
            <a:xfrm>
              <a:off x="387679" y="66676"/>
              <a:ext cx="2113419" cy="396424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IN" sz="2000" dirty="0">
                  <a:solidFill>
                    <a:schemeClr val="bg1"/>
                  </a:solidFill>
                </a:rPr>
                <a:t> Business Impact</a:t>
              </a:r>
              <a:endPara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48742" name="TextBox 2"/>
          <p:cNvSpPr txBox="1"/>
          <p:nvPr/>
        </p:nvSpPr>
        <p:spPr>
          <a:xfrm>
            <a:off x="974414" y="1501061"/>
            <a:ext cx="31218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/>
              <a:t> 1. Data Overview</a:t>
            </a:r>
          </a:p>
          <a:p>
            <a:pPr algn="just">
              <a:buNone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Total orders and dataset coverage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Year-wise GMV growth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Order status distribution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Delivery success rate</a:t>
            </a:r>
          </a:p>
        </p:txBody>
      </p:sp>
      <p:sp>
        <p:nvSpPr>
          <p:cNvPr id="1048743" name="TextBox 4"/>
          <p:cNvSpPr txBox="1"/>
          <p:nvPr/>
        </p:nvSpPr>
        <p:spPr>
          <a:xfrm>
            <a:off x="3650442" y="1501061"/>
            <a:ext cx="2907516" cy="1615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2. Revenue &amp; Geography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Top revenue-generating cities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Best and worst performing dark stores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High-demand pincode areas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Average Order Value (AOV) by location</a:t>
            </a:r>
          </a:p>
        </p:txBody>
      </p:sp>
      <p:sp>
        <p:nvSpPr>
          <p:cNvPr id="1048744" name="TextBox 6"/>
          <p:cNvSpPr txBox="1"/>
          <p:nvPr/>
        </p:nvSpPr>
        <p:spPr>
          <a:xfrm>
            <a:off x="6686551" y="1501061"/>
            <a:ext cx="2457450" cy="142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Time-Based Analysis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Peak ordering hours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Weekday vs Weekend demand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Monthly GMV trends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Festive season spikes</a:t>
            </a:r>
          </a:p>
        </p:txBody>
      </p:sp>
      <p:sp>
        <p:nvSpPr>
          <p:cNvPr id="1048745" name="TextBox 8"/>
          <p:cNvSpPr txBox="1"/>
          <p:nvPr/>
        </p:nvSpPr>
        <p:spPr>
          <a:xfrm>
            <a:off x="974414" y="3050709"/>
            <a:ext cx="2676028" cy="1615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4. Customer Behaviour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Payment method preferences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Platform usage (Android, iOS, Web)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User tier comparison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Repeat vs First-time customers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Top lifetime customers</a:t>
            </a:r>
          </a:p>
        </p:txBody>
      </p:sp>
      <p:sp>
        <p:nvSpPr>
          <p:cNvPr id="1048746" name="TextBox 10"/>
          <p:cNvSpPr txBox="1"/>
          <p:nvPr/>
        </p:nvSpPr>
        <p:spPr>
          <a:xfrm>
            <a:off x="3650442" y="3050709"/>
            <a:ext cx="2321733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5. Promotions &amp; Discounts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Most used promo codes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Discount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Cashback impact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GMV lost due to promotions</a:t>
            </a:r>
          </a:p>
        </p:txBody>
      </p:sp>
      <p:sp>
        <p:nvSpPr>
          <p:cNvPr id="1048747" name="TextBox 12"/>
          <p:cNvSpPr txBox="1"/>
          <p:nvPr/>
        </p:nvSpPr>
        <p:spPr>
          <a:xfrm>
            <a:off x="6557959" y="3048378"/>
            <a:ext cx="258604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 Operations &amp; Growth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Cancellation &amp; return reasons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Delivery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Month-over-month GMV growth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Business growth opportunities</a:t>
            </a:r>
          </a:p>
        </p:txBody>
      </p:sp>
      <p:cxnSp>
        <p:nvCxnSpPr>
          <p:cNvPr id="3145819" name="Straight Connector 14"/>
          <p:cNvCxnSpPr>
            <a:cxnSpLocks/>
          </p:cNvCxnSpPr>
          <p:nvPr/>
        </p:nvCxnSpPr>
        <p:spPr>
          <a:xfrm>
            <a:off x="3542214" y="1139825"/>
            <a:ext cx="58495" cy="32012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0" name="Straight Connector 17"/>
          <p:cNvCxnSpPr>
            <a:cxnSpLocks/>
          </p:cNvCxnSpPr>
          <p:nvPr/>
        </p:nvCxnSpPr>
        <p:spPr>
          <a:xfrm>
            <a:off x="6562671" y="1194207"/>
            <a:ext cx="58495" cy="32012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1" name="Straight Connector 18"/>
          <p:cNvCxnSpPr>
            <a:cxnSpLocks/>
          </p:cNvCxnSpPr>
          <p:nvPr/>
        </p:nvCxnSpPr>
        <p:spPr>
          <a:xfrm flipH="1">
            <a:off x="1160156" y="2894893"/>
            <a:ext cx="7722404" cy="499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134"/>
          <p:cNvGrpSpPr/>
          <p:nvPr/>
        </p:nvGrpSpPr>
        <p:grpSpPr>
          <a:xfrm>
            <a:off x="3469494" y="593724"/>
            <a:ext cx="2478973" cy="468310"/>
            <a:chOff x="0" y="0"/>
            <a:chExt cx="2129475" cy="468000"/>
          </a:xfrm>
        </p:grpSpPr>
        <p:grpSp>
          <p:nvGrpSpPr>
            <p:cNvPr id="91" name="Group 135"/>
            <p:cNvGrpSpPr/>
            <p:nvPr/>
          </p:nvGrpSpPr>
          <p:grpSpPr>
            <a:xfrm>
              <a:off x="0" y="0"/>
              <a:ext cx="2129475" cy="468000"/>
              <a:chOff x="0" y="0"/>
              <a:chExt cx="2129475" cy="468000"/>
            </a:xfrm>
          </p:grpSpPr>
          <p:sp>
            <p:nvSpPr>
              <p:cNvPr id="1048748" name="矩形 14"/>
              <p:cNvSpPr/>
              <p:nvPr/>
            </p:nvSpPr>
            <p:spPr>
              <a:xfrm flipH="1">
                <a:off x="2737" y="396000"/>
                <a:ext cx="2124000" cy="720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749" name="矩形 15"/>
              <p:cNvSpPr/>
              <p:nvPr/>
            </p:nvSpPr>
            <p:spPr>
              <a:xfrm>
                <a:off x="0" y="0"/>
                <a:ext cx="2129475" cy="396000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1048750" name="文本框 17"/>
            <p:cNvSpPr txBox="1"/>
            <p:nvPr/>
          </p:nvSpPr>
          <p:spPr>
            <a:xfrm>
              <a:off x="53553" y="60005"/>
              <a:ext cx="1695335" cy="29444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r>
                <a:rPr lang="en-IN" sz="1400" dirty="0">
                  <a:solidFill>
                    <a:schemeClr val="bg1"/>
                  </a:solidFill>
                </a:rPr>
                <a:t>Why We Created Views</a:t>
              </a:r>
              <a:endPara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92" name="Group 137"/>
          <p:cNvGrpSpPr/>
          <p:nvPr/>
        </p:nvGrpSpPr>
        <p:grpSpPr>
          <a:xfrm>
            <a:off x="3471865" y="1062037"/>
            <a:ext cx="2473427" cy="2762250"/>
            <a:chOff x="0" y="0"/>
            <a:chExt cx="2124000" cy="2762822"/>
          </a:xfrm>
        </p:grpSpPr>
        <p:sp>
          <p:nvSpPr>
            <p:cNvPr id="1048751" name="矩形 16"/>
            <p:cNvSpPr/>
            <p:nvPr/>
          </p:nvSpPr>
          <p:spPr>
            <a:xfrm flipH="1">
              <a:off x="0" y="0"/>
              <a:ext cx="2124000" cy="27628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52" name="矩形 18"/>
            <p:cNvSpPr/>
            <p:nvPr/>
          </p:nvSpPr>
          <p:spPr>
            <a:xfrm>
              <a:off x="9085" y="72000"/>
              <a:ext cx="2072052" cy="2530364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marL="171450" lvl="0" indent="-1714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400" dirty="0"/>
                <a:t>Reduce repetitive SQL code</a:t>
              </a:r>
            </a:p>
            <a:p>
              <a:pPr marL="171450" lvl="0" indent="-1714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400" dirty="0"/>
                <a:t>Improve query readability.</a:t>
              </a:r>
            </a:p>
            <a:p>
              <a:pPr marL="171450" lvl="0" indent="-1714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400" dirty="0"/>
                <a:t>Simplify business analysis.</a:t>
              </a:r>
            </a:p>
            <a:p>
              <a:pPr marL="171450" lvl="0" indent="-1714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400" dirty="0"/>
                <a:t>Organize data into logical    domains.</a:t>
              </a:r>
            </a:p>
            <a:p>
              <a:pPr marL="171450" lvl="0" indent="-1714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400" dirty="0"/>
                <a:t>Support faster report</a:t>
              </a:r>
            </a:p>
            <a:p>
              <a:pPr lvl="0" algn="just">
                <a:lnSpc>
                  <a:spcPct val="150000"/>
                </a:lnSpc>
              </a:pPr>
              <a:r>
                <a:rPr lang="en-IN" sz="1400" dirty="0"/>
                <a:t>     development.</a:t>
              </a:r>
              <a:endParaRPr lang="en-US" altLang="zh-CN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209715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09" y="287037"/>
            <a:ext cx="3067478" cy="4363059"/>
          </a:xfrm>
          <a:prstGeom prst="rect">
            <a:avLst/>
          </a:prstGeom>
        </p:spPr>
      </p:pic>
      <p:pic>
        <p:nvPicPr>
          <p:cNvPr id="2097158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292" y="0"/>
            <a:ext cx="2791215" cy="51435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110"/>
          <p:cNvGrpSpPr/>
          <p:nvPr/>
        </p:nvGrpSpPr>
        <p:grpSpPr>
          <a:xfrm>
            <a:off x="2647950" y="949325"/>
            <a:ext cx="612775" cy="2155825"/>
            <a:chOff x="0" y="0"/>
            <a:chExt cx="612000" cy="2154792"/>
          </a:xfrm>
        </p:grpSpPr>
        <p:sp>
          <p:nvSpPr>
            <p:cNvPr id="1048753" name="矩形 44"/>
            <p:cNvSpPr/>
            <p:nvPr/>
          </p:nvSpPr>
          <p:spPr>
            <a:xfrm>
              <a:off x="0" y="0"/>
              <a:ext cx="468000" cy="215479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54" name="矩形 54"/>
            <p:cNvSpPr/>
            <p:nvPr/>
          </p:nvSpPr>
          <p:spPr>
            <a:xfrm flipH="1">
              <a:off x="468000" y="143997"/>
              <a:ext cx="144000" cy="201079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96" name="Group 111"/>
          <p:cNvGrpSpPr/>
          <p:nvPr/>
        </p:nvGrpSpPr>
        <p:grpSpPr>
          <a:xfrm>
            <a:off x="5883275" y="949325"/>
            <a:ext cx="612775" cy="2155825"/>
            <a:chOff x="0" y="0"/>
            <a:chExt cx="612001" cy="2154793"/>
          </a:xfrm>
        </p:grpSpPr>
        <p:sp>
          <p:nvSpPr>
            <p:cNvPr id="1048755" name="矩形 48"/>
            <p:cNvSpPr/>
            <p:nvPr/>
          </p:nvSpPr>
          <p:spPr>
            <a:xfrm>
              <a:off x="144001" y="0"/>
              <a:ext cx="468000" cy="2154793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56" name="矩形 58"/>
            <p:cNvSpPr/>
            <p:nvPr/>
          </p:nvSpPr>
          <p:spPr>
            <a:xfrm flipH="1">
              <a:off x="0" y="143998"/>
              <a:ext cx="144000" cy="201079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97" name="Group 112"/>
          <p:cNvGrpSpPr/>
          <p:nvPr/>
        </p:nvGrpSpPr>
        <p:grpSpPr>
          <a:xfrm>
            <a:off x="0" y="482600"/>
            <a:ext cx="3260725" cy="611187"/>
            <a:chOff x="0" y="0"/>
            <a:chExt cx="3260738" cy="612000"/>
          </a:xfrm>
        </p:grpSpPr>
        <p:grpSp>
          <p:nvGrpSpPr>
            <p:cNvPr id="98" name="Group 113"/>
            <p:cNvGrpSpPr/>
            <p:nvPr/>
          </p:nvGrpSpPr>
          <p:grpSpPr>
            <a:xfrm>
              <a:off x="0" y="0"/>
              <a:ext cx="3260738" cy="612000"/>
              <a:chOff x="0" y="0"/>
              <a:chExt cx="3260738" cy="612000"/>
            </a:xfrm>
          </p:grpSpPr>
          <p:sp>
            <p:nvSpPr>
              <p:cNvPr id="1048757" name="直角三角形 45"/>
              <p:cNvSpPr/>
              <p:nvPr/>
            </p:nvSpPr>
            <p:spPr>
              <a:xfrm rot="10800000" flipH="1" flipV="1">
                <a:off x="3116738" y="468000"/>
                <a:ext cx="144000" cy="144000"/>
              </a:xfrm>
              <a:prstGeom prst="rtTriangle">
                <a:avLst/>
              </a:prstGeom>
              <a:solidFill>
                <a:srgbClr val="D09E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758" name="矩形 46"/>
              <p:cNvSpPr/>
              <p:nvPr/>
            </p:nvSpPr>
            <p:spPr>
              <a:xfrm flipH="1">
                <a:off x="0" y="468000"/>
                <a:ext cx="3116738" cy="1440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759" name="直角三角形 49"/>
              <p:cNvSpPr/>
              <p:nvPr/>
            </p:nvSpPr>
            <p:spPr>
              <a:xfrm>
                <a:off x="2648738" y="0"/>
                <a:ext cx="468000" cy="468000"/>
              </a:xfrm>
              <a:prstGeom prst="rtTriangle">
                <a:avLst/>
              </a:prstGeom>
              <a:solidFill>
                <a:srgbClr val="111E35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760" name="矩形 52"/>
              <p:cNvSpPr/>
              <p:nvPr/>
            </p:nvSpPr>
            <p:spPr>
              <a:xfrm>
                <a:off x="1" y="0"/>
                <a:ext cx="2648738" cy="468000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1048761" name="文本框 61"/>
            <p:cNvSpPr txBox="1"/>
            <p:nvPr/>
          </p:nvSpPr>
          <p:spPr>
            <a:xfrm>
              <a:off x="647441" y="101330"/>
              <a:ext cx="1668787" cy="26959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r>
                <a:rPr lang="en-US" altLang="zh-CN" sz="1200" dirty="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</a:rPr>
                <a:t>Problems faced by us</a:t>
              </a:r>
            </a:p>
          </p:txBody>
        </p:sp>
      </p:grpSp>
      <p:grpSp>
        <p:nvGrpSpPr>
          <p:cNvPr id="99" name="Group 114"/>
          <p:cNvGrpSpPr/>
          <p:nvPr/>
        </p:nvGrpSpPr>
        <p:grpSpPr>
          <a:xfrm>
            <a:off x="2647950" y="3105150"/>
            <a:ext cx="3848100" cy="611187"/>
            <a:chOff x="0" y="0"/>
            <a:chExt cx="3846526" cy="612000"/>
          </a:xfrm>
        </p:grpSpPr>
        <p:grpSp>
          <p:nvGrpSpPr>
            <p:cNvPr id="100" name="Group 115"/>
            <p:cNvGrpSpPr/>
            <p:nvPr/>
          </p:nvGrpSpPr>
          <p:grpSpPr>
            <a:xfrm>
              <a:off x="0" y="0"/>
              <a:ext cx="3846526" cy="612000"/>
              <a:chOff x="0" y="0"/>
              <a:chExt cx="3846526" cy="612000"/>
            </a:xfrm>
          </p:grpSpPr>
          <p:sp>
            <p:nvSpPr>
              <p:cNvPr id="1048762" name="矩形 42"/>
              <p:cNvSpPr/>
              <p:nvPr/>
            </p:nvSpPr>
            <p:spPr>
              <a:xfrm flipV="1">
                <a:off x="468001" y="0"/>
                <a:ext cx="2910525" cy="468000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763" name="直角三角形 43"/>
              <p:cNvSpPr/>
              <p:nvPr/>
            </p:nvSpPr>
            <p:spPr>
              <a:xfrm flipV="1">
                <a:off x="3378526" y="0"/>
                <a:ext cx="468000" cy="468000"/>
              </a:xfrm>
              <a:prstGeom prst="rtTriangle">
                <a:avLst/>
              </a:prstGeom>
              <a:solidFill>
                <a:srgbClr val="111E35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764" name="直角三角形 47"/>
              <p:cNvSpPr/>
              <p:nvPr/>
            </p:nvSpPr>
            <p:spPr>
              <a:xfrm flipH="1" flipV="1">
                <a:off x="0" y="0"/>
                <a:ext cx="468000" cy="468000"/>
              </a:xfrm>
              <a:prstGeom prst="rtTriangle">
                <a:avLst/>
              </a:prstGeom>
              <a:solidFill>
                <a:srgbClr val="111E35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765" name="矩形 55"/>
              <p:cNvSpPr/>
              <p:nvPr/>
            </p:nvSpPr>
            <p:spPr>
              <a:xfrm flipH="1">
                <a:off x="612000" y="468000"/>
                <a:ext cx="2622526" cy="1440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766" name="直角三角形 56"/>
              <p:cNvSpPr/>
              <p:nvPr/>
            </p:nvSpPr>
            <p:spPr>
              <a:xfrm rot="10800000">
                <a:off x="462299" y="468000"/>
                <a:ext cx="144000" cy="144000"/>
              </a:xfrm>
              <a:prstGeom prst="rtTriangle">
                <a:avLst/>
              </a:prstGeom>
              <a:solidFill>
                <a:srgbClr val="D09E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767" name="直角三角形 57"/>
              <p:cNvSpPr/>
              <p:nvPr/>
            </p:nvSpPr>
            <p:spPr>
              <a:xfrm rot="10800000" flipH="1">
                <a:off x="3240227" y="468000"/>
                <a:ext cx="144000" cy="144000"/>
              </a:xfrm>
              <a:prstGeom prst="rtTriangle">
                <a:avLst/>
              </a:prstGeom>
              <a:solidFill>
                <a:srgbClr val="D09E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1048768" name="文本框 62"/>
            <p:cNvSpPr txBox="1"/>
            <p:nvPr/>
          </p:nvSpPr>
          <p:spPr>
            <a:xfrm>
              <a:off x="1771900" y="95500"/>
              <a:ext cx="220890" cy="26959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en-US" altLang="zh-CN" sz="12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1" name="Group 116"/>
          <p:cNvGrpSpPr/>
          <p:nvPr/>
        </p:nvGrpSpPr>
        <p:grpSpPr>
          <a:xfrm>
            <a:off x="5883275" y="482600"/>
            <a:ext cx="3260725" cy="611187"/>
            <a:chOff x="0" y="0"/>
            <a:chExt cx="3260737" cy="611998"/>
          </a:xfrm>
        </p:grpSpPr>
        <p:grpSp>
          <p:nvGrpSpPr>
            <p:cNvPr id="102" name="Group 117"/>
            <p:cNvGrpSpPr/>
            <p:nvPr/>
          </p:nvGrpSpPr>
          <p:grpSpPr>
            <a:xfrm>
              <a:off x="0" y="0"/>
              <a:ext cx="3260737" cy="611998"/>
              <a:chOff x="0" y="0"/>
              <a:chExt cx="3260737" cy="611998"/>
            </a:xfrm>
          </p:grpSpPr>
          <p:sp>
            <p:nvSpPr>
              <p:cNvPr id="1048769" name="直角三角形 50"/>
              <p:cNvSpPr/>
              <p:nvPr/>
            </p:nvSpPr>
            <p:spPr>
              <a:xfrm flipH="1">
                <a:off x="144001" y="0"/>
                <a:ext cx="468000" cy="468000"/>
              </a:xfrm>
              <a:prstGeom prst="rtTriangle">
                <a:avLst/>
              </a:prstGeom>
              <a:solidFill>
                <a:srgbClr val="111E35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770" name="矩形 53"/>
              <p:cNvSpPr/>
              <p:nvPr/>
            </p:nvSpPr>
            <p:spPr>
              <a:xfrm>
                <a:off x="612001" y="0"/>
                <a:ext cx="2648736" cy="468000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771" name="直角三角形 59"/>
              <p:cNvSpPr/>
              <p:nvPr/>
            </p:nvSpPr>
            <p:spPr>
              <a:xfrm rot="10800000" flipV="1">
                <a:off x="0" y="467998"/>
                <a:ext cx="144000" cy="144000"/>
              </a:xfrm>
              <a:prstGeom prst="rtTriangle">
                <a:avLst/>
              </a:prstGeom>
              <a:solidFill>
                <a:srgbClr val="D09E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772" name="矩形 60"/>
              <p:cNvSpPr/>
              <p:nvPr/>
            </p:nvSpPr>
            <p:spPr>
              <a:xfrm flipH="1">
                <a:off x="143999" y="467998"/>
                <a:ext cx="3116737" cy="1440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1048773" name="文本框 63"/>
            <p:cNvSpPr txBox="1"/>
            <p:nvPr/>
          </p:nvSpPr>
          <p:spPr>
            <a:xfrm>
              <a:off x="1525616" y="97633"/>
              <a:ext cx="220981" cy="26959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en-US" altLang="zh-CN" sz="12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48774" name="TextBox 4"/>
          <p:cNvSpPr txBox="1"/>
          <p:nvPr/>
        </p:nvSpPr>
        <p:spPr>
          <a:xfrm>
            <a:off x="182516" y="1273827"/>
            <a:ext cx="2235248" cy="3558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dirty="0"/>
              <a:t>The </a:t>
            </a:r>
            <a:r>
              <a:rPr lang="en-US" sz="1200" dirty="0" err="1"/>
              <a:t>BlinKit</a:t>
            </a:r>
            <a:r>
              <a:rPr lang="en-US" sz="1200" dirty="0"/>
              <a:t> dataset consists </a:t>
            </a:r>
            <a:br>
              <a:rPr lang="en-US" sz="1200" dirty="0"/>
            </a:br>
            <a:r>
              <a:rPr lang="en-US" sz="1200" dirty="0"/>
              <a:t>of over 3.8 million rows;</a:t>
            </a:r>
            <a:br>
              <a:rPr lang="en-US" sz="1200" dirty="0"/>
            </a:br>
            <a:r>
              <a:rPr lang="en-US" sz="1200" dirty="0"/>
              <a:t> while importing it, we </a:t>
            </a:r>
            <a:br>
              <a:rPr lang="en-US" sz="1200" dirty="0"/>
            </a:br>
            <a:r>
              <a:rPr lang="en-US" sz="1200" dirty="0"/>
              <a:t>experienced a delay of over 4–5 hours.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dirty="0"/>
              <a:t>Normalization make dataset harder to analyze because there is only one unique id in </a:t>
            </a:r>
            <a:br>
              <a:rPr lang="en-US" sz="1200" dirty="0"/>
            </a:br>
            <a:r>
              <a:rPr lang="en-US" sz="1200" dirty="0"/>
              <a:t>table which is </a:t>
            </a:r>
            <a:r>
              <a:rPr lang="en-US" sz="1200" dirty="0" err="1"/>
              <a:t>order_id</a:t>
            </a:r>
            <a:r>
              <a:rPr lang="en-US" sz="1200" dirty="0"/>
              <a:t>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775" name="TextBox 6"/>
          <p:cNvSpPr txBox="1"/>
          <p:nvPr/>
        </p:nvSpPr>
        <p:spPr>
          <a:xfrm>
            <a:off x="6495273" y="1186976"/>
            <a:ext cx="2379664" cy="142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dirty="0"/>
              <a:t>Due to large dataset we were unable to run query efficiently even after adding indexes on </a:t>
            </a:r>
            <a:br>
              <a:rPr lang="en-US" sz="1200" dirty="0"/>
            </a:br>
            <a:r>
              <a:rPr lang="en-US" sz="1200" dirty="0"/>
              <a:t>them .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776" name="TextBox 8"/>
          <p:cNvSpPr txBox="1"/>
          <p:nvPr/>
        </p:nvSpPr>
        <p:spPr>
          <a:xfrm>
            <a:off x="3366489" y="1273438"/>
            <a:ext cx="2148056" cy="1170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dirty="0"/>
              <a:t>Connection lost during </a:t>
            </a:r>
            <a:br>
              <a:rPr lang="en-US" sz="1200" dirty="0"/>
            </a:br>
            <a:r>
              <a:rPr lang="en-US" sz="1200" dirty="0"/>
              <a:t>MYSQL query while </a:t>
            </a:r>
            <a:br>
              <a:rPr lang="en-US" sz="1200" dirty="0"/>
            </a:br>
            <a:r>
              <a:rPr lang="en-US" sz="1200" dirty="0"/>
              <a:t>applying Indexes and </a:t>
            </a:r>
            <a:br>
              <a:rPr lang="en-US" sz="1200" dirty="0"/>
            </a:br>
            <a:r>
              <a:rPr lang="en-US" sz="1200" dirty="0"/>
              <a:t>running query.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矩形 7"/>
          <p:cNvSpPr/>
          <p:nvPr/>
        </p:nvSpPr>
        <p:spPr>
          <a:xfrm flipH="1">
            <a:off x="593725" y="596900"/>
            <a:ext cx="360362" cy="4546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1048778" name="矩形 8"/>
          <p:cNvSpPr/>
          <p:nvPr/>
        </p:nvSpPr>
        <p:spPr>
          <a:xfrm flipV="1">
            <a:off x="3267075" y="0"/>
            <a:ext cx="539750" cy="5969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grpSp>
        <p:nvGrpSpPr>
          <p:cNvPr id="104" name="Group 42"/>
          <p:cNvGrpSpPr/>
          <p:nvPr/>
        </p:nvGrpSpPr>
        <p:grpSpPr>
          <a:xfrm>
            <a:off x="593725" y="238125"/>
            <a:ext cx="8550275" cy="361950"/>
            <a:chOff x="0" y="0"/>
            <a:chExt cx="8550524" cy="362139"/>
          </a:xfrm>
        </p:grpSpPr>
        <p:sp>
          <p:nvSpPr>
            <p:cNvPr id="1048779" name="直角三角形 5"/>
            <p:cNvSpPr/>
            <p:nvPr/>
          </p:nvSpPr>
          <p:spPr>
            <a:xfrm rot="5400000" flipH="1" flipV="1">
              <a:off x="0" y="0"/>
              <a:ext cx="360000" cy="360000"/>
            </a:xfrm>
            <a:prstGeom prst="rtTriangle">
              <a:avLst/>
            </a:prstGeom>
            <a:solidFill>
              <a:srgbClr val="D09E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80" name="矩形 6"/>
            <p:cNvSpPr/>
            <p:nvPr/>
          </p:nvSpPr>
          <p:spPr>
            <a:xfrm flipH="1">
              <a:off x="359999" y="714"/>
              <a:ext cx="8190525" cy="3614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105" name="Group 43"/>
          <p:cNvGrpSpPr/>
          <p:nvPr/>
        </p:nvGrpSpPr>
        <p:grpSpPr>
          <a:xfrm>
            <a:off x="0" y="600075"/>
            <a:ext cx="3806825" cy="539750"/>
            <a:chOff x="0" y="0"/>
            <a:chExt cx="3807075" cy="540000"/>
          </a:xfrm>
        </p:grpSpPr>
        <p:grpSp>
          <p:nvGrpSpPr>
            <p:cNvPr id="106" name="Group 44"/>
            <p:cNvGrpSpPr/>
            <p:nvPr/>
          </p:nvGrpSpPr>
          <p:grpSpPr>
            <a:xfrm>
              <a:off x="0" y="0"/>
              <a:ext cx="3807075" cy="540000"/>
              <a:chOff x="0" y="0"/>
              <a:chExt cx="3807075" cy="540000"/>
            </a:xfrm>
          </p:grpSpPr>
          <p:sp>
            <p:nvSpPr>
              <p:cNvPr id="1048781" name="矩形 2"/>
              <p:cNvSpPr/>
              <p:nvPr/>
            </p:nvSpPr>
            <p:spPr>
              <a:xfrm flipV="1">
                <a:off x="0" y="0"/>
                <a:ext cx="3267075" cy="540000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782" name="直角三角形 3"/>
              <p:cNvSpPr/>
              <p:nvPr/>
            </p:nvSpPr>
            <p:spPr>
              <a:xfrm flipV="1">
                <a:off x="3267075" y="0"/>
                <a:ext cx="540000" cy="540000"/>
              </a:xfrm>
              <a:prstGeom prst="rtTriangle">
                <a:avLst/>
              </a:prstGeom>
              <a:solidFill>
                <a:srgbClr val="111E35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1048783" name="矩形 9"/>
            <p:cNvSpPr/>
            <p:nvPr/>
          </p:nvSpPr>
          <p:spPr>
            <a:xfrm>
              <a:off x="387679" y="66676"/>
              <a:ext cx="1808600" cy="3964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US" altLang="zh-CN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Future Scopes</a:t>
              </a:r>
            </a:p>
          </p:txBody>
        </p:sp>
      </p:grpSp>
      <p:pic>
        <p:nvPicPr>
          <p:cNvPr id="2097160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158" y="1201869"/>
            <a:ext cx="6950927" cy="3879587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矩形 8"/>
          <p:cNvSpPr/>
          <p:nvPr/>
        </p:nvSpPr>
        <p:spPr>
          <a:xfrm flipH="1">
            <a:off x="7629525" y="0"/>
            <a:ext cx="576262" cy="23352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1048785" name="矩形 3"/>
          <p:cNvSpPr/>
          <p:nvPr/>
        </p:nvSpPr>
        <p:spPr>
          <a:xfrm>
            <a:off x="857250" y="2335212"/>
            <a:ext cx="900112" cy="2808287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1pPr>
            <a:lvl2pPr marL="342900" indent="1143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2pPr>
            <a:lvl3pPr marL="685800" indent="2286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3pPr>
            <a:lvl4pPr marL="1028700" indent="3429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4pPr>
            <a:lvl5pPr marL="1371600" indent="45720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1300" b="0" i="0" u="none" baseline="0">
                <a:solidFill>
                  <a:schemeClr val="dk1"/>
                </a:solidFill>
                <a:latin typeface="Calibri" pitchFamily="34" charset="0"/>
                <a:ea typeface="宋体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grpSp>
        <p:nvGrpSpPr>
          <p:cNvPr id="108" name="Group 186"/>
          <p:cNvGrpSpPr/>
          <p:nvPr/>
        </p:nvGrpSpPr>
        <p:grpSpPr>
          <a:xfrm>
            <a:off x="857250" y="1431925"/>
            <a:ext cx="8286750" cy="901700"/>
            <a:chOff x="0" y="0"/>
            <a:chExt cx="8286663" cy="902064"/>
          </a:xfrm>
        </p:grpSpPr>
        <p:grpSp>
          <p:nvGrpSpPr>
            <p:cNvPr id="109" name="Group 187"/>
            <p:cNvGrpSpPr/>
            <p:nvPr/>
          </p:nvGrpSpPr>
          <p:grpSpPr>
            <a:xfrm>
              <a:off x="0" y="0"/>
              <a:ext cx="8286663" cy="902064"/>
              <a:chOff x="0" y="0"/>
              <a:chExt cx="8286663" cy="902064"/>
            </a:xfrm>
          </p:grpSpPr>
          <p:sp>
            <p:nvSpPr>
              <p:cNvPr id="1048786" name="矩形 4"/>
              <p:cNvSpPr/>
              <p:nvPr/>
            </p:nvSpPr>
            <p:spPr>
              <a:xfrm>
                <a:off x="900001" y="2064"/>
                <a:ext cx="7386662" cy="900000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1048787" name="直角三角形 5"/>
              <p:cNvSpPr/>
              <p:nvPr/>
            </p:nvSpPr>
            <p:spPr>
              <a:xfrm rot="16200000">
                <a:off x="0" y="0"/>
                <a:ext cx="900000" cy="900000"/>
              </a:xfrm>
              <a:prstGeom prst="rtTriangle">
                <a:avLst/>
              </a:prstGeom>
              <a:solidFill>
                <a:srgbClr val="111E35"/>
              </a:solidFill>
              <a:ln>
                <a:noFill/>
              </a:ln>
            </p:spPr>
            <p:txBody>
              <a:bodyPr vert="horz" lIns="91440" tIns="45720" rIns="91440" bIns="45720" anchor="ctr"/>
              <a:lstStyle>
                <a:lvl1pPr marL="0" indent="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342900" indent="1143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685800" indent="2286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028700" indent="3429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1371600" indent="457200" algn="l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  <a:defRPr sz="1300" b="0" i="0" u="none" baseline="0">
                    <a:solidFill>
                      <a:schemeClr val="dk1"/>
                    </a:solidFill>
                    <a:latin typeface="Calibri" pitchFamily="34" charset="0"/>
                    <a:ea typeface="宋体" pitchFamily="2" charset="-122"/>
                  </a:defRPr>
                </a:lvl5pPr>
              </a:lstStyle>
              <a:p>
                <a:pPr lvl="0" algn="ctr"/>
                <a:endParaRPr lang="zh-CN" altLang="en-US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1048788" name="矩形 6"/>
            <p:cNvSpPr/>
            <p:nvPr/>
          </p:nvSpPr>
          <p:spPr>
            <a:xfrm>
              <a:off x="1056721" y="156583"/>
              <a:ext cx="2418055" cy="574272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/>
              <a:r>
                <a:rPr lang="en-US" altLang="zh-CN" sz="3200" b="1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</a:rPr>
                <a:t>THANK YOU</a:t>
              </a:r>
            </a:p>
          </p:txBody>
        </p:sp>
      </p:grpSp>
      <p:grpSp>
        <p:nvGrpSpPr>
          <p:cNvPr id="111" name="Group 189"/>
          <p:cNvGrpSpPr/>
          <p:nvPr/>
        </p:nvGrpSpPr>
        <p:grpSpPr>
          <a:xfrm>
            <a:off x="0" y="2328862"/>
            <a:ext cx="8205787" cy="577850"/>
            <a:chOff x="0" y="0"/>
            <a:chExt cx="8205524" cy="578062"/>
          </a:xfrm>
        </p:grpSpPr>
        <p:sp>
          <p:nvSpPr>
            <p:cNvPr id="1048789" name="直角三角形 7"/>
            <p:cNvSpPr/>
            <p:nvPr/>
          </p:nvSpPr>
          <p:spPr>
            <a:xfrm rot="10800000" flipH="1">
              <a:off x="7629524" y="2062"/>
              <a:ext cx="576000" cy="576000"/>
            </a:xfrm>
            <a:prstGeom prst="rtTriangle">
              <a:avLst/>
            </a:prstGeom>
            <a:solidFill>
              <a:srgbClr val="D09E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  <p:sp>
          <p:nvSpPr>
            <p:cNvPr id="1048790" name="矩形 9"/>
            <p:cNvSpPr/>
            <p:nvPr/>
          </p:nvSpPr>
          <p:spPr>
            <a:xfrm flipH="1">
              <a:off x="0" y="0"/>
              <a:ext cx="7629523" cy="576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91440" tIns="45720" rIns="91440" bIns="45720" anchor="ctr"/>
            <a:lstStyle>
              <a:lvl1pPr marL="0" indent="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1pPr>
              <a:lvl2pPr marL="342900" indent="1143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2pPr>
              <a:lvl3pPr marL="685800" indent="2286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3pPr>
              <a:lvl4pPr marL="1028700" indent="3429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4pPr>
              <a:lvl5pPr marL="1371600" indent="457200" algn="l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 sz="1300" b="0" i="0" u="none" baseline="0">
                  <a:solidFill>
                    <a:schemeClr val="dk1"/>
                  </a:solidFill>
                  <a:latin typeface="Calibri" pitchFamily="34" charset="0"/>
                  <a:ea typeface="宋体" pitchFamily="2" charset="-122"/>
                </a:defRPr>
              </a:lvl5pPr>
            </a:lstStyle>
            <a:p>
              <a:pPr lvl="0" algn="ctr"/>
              <a:endParaRPr lang="zh-CN" altLang="en-US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6CBE6"/>
      </a:accent5>
      <a:accent6>
        <a:srgbClr val="D4702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7E6E6"/>
        </a:dk2>
        <a:lt2>
          <a:srgbClr val="44546A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6CBE6"/>
        </a:accent5>
        <a:accent6>
          <a:srgbClr val="D4702B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6CBE6"/>
      </a:accent5>
      <a:accent6>
        <a:srgbClr val="D4702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</Words>
  <Application>Microsoft Office PowerPoint</Application>
  <PresentationFormat>On-screen Show (16:9)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微软雅黑</vt:lpstr>
      <vt:lpstr>Arial</vt:lpstr>
      <vt:lpstr>Calibri</vt:lpstr>
      <vt:lpstr>Calibri Light</vt:lpstr>
      <vt:lpstr>Wingdings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Ravi Ajagekar</cp:lastModifiedBy>
  <cp:revision>2</cp:revision>
  <dcterms:created xsi:type="dcterms:W3CDTF">2014-09-04T10:39:43Z</dcterms:created>
  <dcterms:modified xsi:type="dcterms:W3CDTF">2026-07-18T07:40:52Z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1033-11.2.0.10351</vt:lpwstr>
  </property>
  <property fmtid="{D5CDD505-2E9C-101B-9397-08002B2CF9AE}" pid="3" name="ICV">
    <vt:lpwstr>a9dbd21c28114768aaecbacd44aaa4a4</vt:lpwstr>
  </property>
</Properties>
</file>